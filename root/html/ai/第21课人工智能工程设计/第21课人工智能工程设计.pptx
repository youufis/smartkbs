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大家好，欢迎来到《人工智能工程设计》课堂。我是林教授。在接下来的课程中，我们将一起探讨如何将 AI 从实验室的算法转化为真正可落地的工业级系统。这不仅是关于模型的竞赛，更是关于工程智慧的挑战。
大家请看这张背景图，它象征着神经网络与工程蓝图的融合。这正是我们课程的核心：赋予灵动的算法以坚实的工程骨架。
首先，我们来明确定义。AI 工程设计并非单纯的编写代码，而是将成熟的工程化原则——如模块化、标准化和自动化——系统性地应用于 AI 系统的构建中。
为什么要这么做呢？其核心价值在于提升系统的可靠性与可扩展性。在真实业务中，一个能稳定运行且易于维护的系统，往往比一个追求极致精度但极其脆弱的模型更有价值。
本课程的目标，就是带大家掌握从需求分析、数据流水线设计到最终部署与监控的全链路方法论。希望大家能在这门课中，学会像架构师一样思考 AI 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了解了 AI 工程设计的全貌后，我们首先要理清一个根本问题：AI 工程与我们熟悉的传统软件工程到底有什么不同？这是我们构建架构思维的第一步。
在传统软件工程中，系统是“逻辑驱动”的。开发者通过编写代码、定义明确的业务规则来告知计算机如何行动。这就像写一本精确的操作手册，只要输入确定，输出就是百分之百可预测的。
而 AI 工程则是“数据驱动”。我们不再直接编写处理逻辑，而是训练一个概率模型。这意味着系统的输出不再是绝对的“对或错”，而是一个概率分布。这种从确定性到不确定性的转变，深刻影响了整个工程范式。
大家可以看这张对比表。从维护重心来看，传统软件在于代码逻辑的修复，而 AI 工程的重心则转向了数据的质量与分布。在 AI 系统里，数据就是新的代码。
这也引出了 AI 工程的三大核心挑战：随着时间推移，现实世界的数据会发生偏移，导致模型“衰减”；同时，深度学习的“黑盒”特性让我们很难解释模型为什么做出某个决策。这些都是我们在后续课程中要重点攻克的难题。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面对刚才提到的数据偏移和黑盒难题，我们不能只关注模型训练本身，而必须建立一个完整的全局视野。这就是我们要讨论的第三章内容：AI 工程全生命周期。
一个标准的 AI 工程通常被划分为五个关键阶段：从最初的需求分析定义目标，到最耗时的数据准备，再到模型开发、部署，以及最后的持续监控。这涵盖了从项目立项到上线的全过程。
大家看这张流程图，它不仅展示了各阶段的顺序，更揭示了它们之间复杂的流转关系。在实际工程中，这些阶段并非孤立存在。
这里我们要特别强调它的核心特征：非线性闭环迭代。AI 工程不是单向的线性流程，当监控反馈显示模型出现衰减时，我们往往需要回溯到数据准备甚至需求分析阶段进行调优。这种‘环形路径’是 AI 工程与传统软件工程最大的不同点。
理解了这一全局视角，我们才能在复杂的项目开发中保持逻辑闭环。下面，我们将进入第一个关键环节——需求分析与核心指标的设定。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正如思睿刚才提到的逻辑闭环，其起点正是需求分析。在 AI 工程中，把模糊的业务目标转化为精确的工程指标是项目成败的关键。现在，让我们深入探讨这一章：需求分析与核心指标设定。
首先，我们来看核心指标的映射。这一步是将业务语言“翻译”成技术语言的过程。
比如，业务方关注的是转化率或留存率，而我们要将其转化为模型层的 F1 分数或召回率。更关键的是，我们要建立端到端的评估体系，确保线上生产环境与线下开发环境的指标具有一致性，避免模型在线下表现优异、线上却“翻车”的情况。
接着是工程约束分析，这决定了模型在现实世界中的“生存空间”。
我们要考虑响应延迟是否满足 P99 要求，算力与内存资源是否在预算之内。特别是随着数据保护法律的完善，数据隐私与合规性限制现在也是不可逾越的红线。忽略这些约束，即便模型效果再好也无法落地。
最后，我们不能忽视风险与安全评估。
我们需要对模型进行偏差与公平性审计，防止算法对特定群体产生偏见。同时，还要针对对抗性攻击进行漏洞扫描，并预设异常场景下的降级策略。总之，需求分析不仅要看模型“能跑多快”，更要看它“跑得稳不稳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在明确了需求和指标后，我们就要着手构建AI系统的基石。正如我们刚才提到的安全性和稳健性，这些特性的起点都在于数据。现在，让我们进入第六章：数据架构与流水线设计。
首先是自动化流水线，也就是ETL过程。在AI工程中，我们追求的是‘工程化闭环’。这意味着从数据采集到特征提取的每一步都必须是自动化的。这样才能确保当原始数据发生变化时，我们的模型输入依然能保持一致性和实效性。
大家可以看这张技术示意图，它展示了数据从源端流向向量检索的完整路径。在现代AI应用中，尤其是处理非结构化数据时，这种流转路径的效率直接决定了系统的响应速度。
这里的关键点在于，我们不仅要搬运数据，还要在流动过程中进行质量检查和治理。没有元数据管理和版本控制，你的训练数据就会变成一团乱麻，导致模型效果难以回溯。
接下来，请关注这张数据存储对比表。在架构设计时，我们要根据场景选型。传统的SQL适合处理关系密切的业务元数据，NoSQL处理大规模半结构化数据，而向量数据库则是我们目前处理大模型嵌入向量的核心基础设施。合理的混合存储方案是支撑复杂AI工程的前提。
总结一下，优秀的数据架构不仅要能‘存得下’，更要能‘流得动’。只有流水线足够自动化，我们才能在下一阶段更高效地进行模型选择与实验。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在构建完高效的数据流水线后，我们来到了AI工程中另一个关键决策点：模型选择与基础设施。这不仅仅是选一个评分最高的模型，更是一个系统性的权衡过程。
首先是核心工程权衡。大家需要明白，准确度、推理速度和显存占用通常是一个‘不可能三角’。在自动驾驶等实时场景，我们可能为了响应延迟而稍微牺牲一点精度；而在医疗影像分析中，准确度则永远是第一位的。
有了模型，下一步是选择算力架构。CPU适合逻辑复杂的任务，但吞吐量低；GPU是我们最常用的并行计算利器；而TPU则是专为大规模深度学习设计的。选错架构可能会让你的部署成本呈指数级增长。
如果选好的模型太大，无法在手机或嵌入式设备上运行怎么办？这就涉及到了模型压缩与工程落地技术。
我们可以通过‘剪枝’移除冗余参数，就像修剪树枝一样让模型变瘦。
或者利用‘量化’降低数值精度，用更小的位宽来存储数据，显著减少开销。
还有‘蒸馏’技术，它能让小模型学习大模型的精髓。掌握了这些技术，我们才能真正把AI从实验室推向生产环境。关于这些权衡，我想听听大家的看法。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刚才我们探讨了模型的压缩与优化，现在模型已经整装待发。这一章我们重点关注如何安全地将AI模型从实验室推向复杂的生产环境。
首先是服务模式的选择。如果你的应用是实时翻译或自动驾驶，低延迟的在线服务是必选项；而如果是处理海量账单数据，离线批处理则能提供更高的吞吐效率。
在发布策略上，蓝绿部署通过全量环境切换实现极速回滚，而灰度发布，也就是金丝雀发布，则是通过逐步引导流量来控制风险，适合对稳定性要求极高的业务。
为了让大家更直观地理解灰度发布中的流量分配，我们来看一段示意视频，观察负载均衡是如何操作的。
最后，所有的部署都离不开容器化技术。使用 Docker 和 Kubernetes 能确保我们的模型在开发、测试和生产环境中保持完全一致，避免环境差异导致的崩溃。对于部署策略的选择，学霸思睿，你觉得在金融交易场景下，我们应该优先考虑哪种发布方式？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了解完如何将模型推向生产环境后，我们面临的最大挑战是如何维持它的表现。这就是 MLOps 的核心闭环：监控与持续改进。
首先是性能监控。AI 系统上线后，现实世界的数据是不断变化的。我们需要重点检测‘概念偏移’，即模型推理逻辑是否已经失效；同时关注‘数据偏移’，看输入数据的特征分布是否发生了变化。通过这些预警，我们能在用户察觉之前发现模型性能的衰减。
当性能触碰到预设的阈值时，系统应触发自动重训机制。这不仅仅是重新训练，更是一个包含自动化标注、样本更新的闭环过程。我们可以再次运用刚才提到的‘影子测试’，让新训练的模型在后台与旧模型并行验证，确保它确实更优后再进行替换。
最后，当错误发生时，我们需要有诊断与修复的能力。通过全链路日志，我们可以溯源每一个推理错误。同时，利用可解释性工具分析特征贡献，能帮我们定位模型是否存在偏见或逻辑缺陷。当然，最稳健的设计是必须具备‘一键回滚’能力，以便在紧急情况下快速恢复旧版本。
总之，持续观测、自动迭代和可信部署共同构成了稳健的 AI 系统工程。接下来，我们将探讨在这个闭环中，如何兼顾安全与伦理。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紧接上一节课我们讨论的 MLOps 持续监控，现在我们要深入探讨一个不可忽视的维度：安全、隐私与伦理。在 AI 工程中，这不再是辅助性的补丁，而是核心架构的一部分。
我们需要在工程层面实现‘负责任的人工智能’。这意味着从架构设计的第一天起，就得考虑如何将伦理原则转化为可落地的技术指标。
首先来看隐私保护。在工程实现上，联邦学习能做到‘数据不动模型动’，有效解决数据孤岛问题；而差异隐私技术则能帮助我们在数据效用和个体隐私泄露风险之间，寻找一个微妙的平衡。
在防御对抗性攻击方面，我们不仅要在训练阶段引入对抗样本来增强模型的鲁棒性，还要在系统外部构建多层安全边界，防止恶意的提示词攻击或数据中毒。
最后，合规性设计是底线。我们的系统必须符合 GDPR 等严苛的法律要求。这要求我们在工程化流程中，加入公平性检测和透明度分析，确保 AI 的决策是可解释且无偏见的。
大家可以看右侧这张防护架构图，它生动地展示了上述技术是如何协同工作的。接下来，我想听听大家对于这种‘设计即安全’理念的看法。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非常精彩的实战演练！看到大家能将前几章学到的数据流水线、模型部署和监控逻辑完美融合到交通系统中，我感到非常欣慰。现在，我们的《人工智能工程设计》课程也到了最后的总结时刻。
回顾这段旅程，我们一再强调的是‘工程化思维’。正如我们在页面上看到的，AI工程绝非简单的模型训练，而是从数据采集到最终部署的全生命周期架构设计。这种从全局出发、关注系统稳健性和可扩展性的视角，正是我们在课程中反复磨炼的核心能力。
展望未来，AI工程化正朝着两个重要方向演进：一是大模型工程化，也就是LLMOps，它对基础设施的自动化和效率提出了更高要求；二是端云协同，这需要我们在架构设计时更精细地权衡算力分布。这些都是大家在未来工作中会遇到的新挑战。
最后，老师对大家寄予厚望。希望各位在未来的职业道路上，不仅能保持对前沿算法的深度钻研，更能拓展工程实践的广度。成为那群既能仰望星空探讨算法，又能脚踏实地构建系统架构的AI专家。很高兴能与大家共同度过这段学习时光！
在课程结束之际，我想听听大家的感想。经过这十四个章节的学习，哪一个环节让你觉得最具挑战性，或者对你的思维方式改变最大？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video" Target="../media/media-7-1.mp4"/><Relationship Id="rId2" Type="http://schemas.microsoft.com/office/2007/relationships/media" Target="../media/media-7-1.mp4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人工智能工程设计概览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3474720" cy="36576"/>
          </a:xfrm>
          <a:custGeom>
            <a:avLst/>
            <a:gdLst/>
            <a:ahLst/>
            <a:cxnLst/>
            <a:rect l="l" t="t" r="r" b="b"/>
            <a:pathLst>
              <a:path w="3474720" h="36576">
                <a:moveTo>
                  <a:pt x="0" y="0"/>
                </a:moveTo>
                <a:lnTo>
                  <a:pt x="3474720" y="0"/>
                </a:lnTo>
                <a:lnTo>
                  <a:pt x="34747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54480"/>
            <a:ext cx="3931920" cy="822960"/>
          </a:xfrm>
          <a:custGeom>
            <a:avLst/>
            <a:gdLst/>
            <a:ahLst/>
            <a:cxnLst/>
            <a:rect l="l" t="t" r="r" b="b"/>
            <a:pathLst>
              <a:path w="3931920" h="822960">
                <a:moveTo>
                  <a:pt x="0" y="0"/>
                </a:moveTo>
                <a:lnTo>
                  <a:pt x="3931920" y="0"/>
                </a:lnTo>
                <a:lnTo>
                  <a:pt x="39319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554480"/>
            <a:ext cx="54864" cy="822960"/>
          </a:xfrm>
          <a:custGeom>
            <a:avLst/>
            <a:gdLst/>
            <a:ahLst/>
            <a:cxnLst/>
            <a:rect l="l" t="t" r="r" b="b"/>
            <a:pathLst>
              <a:path w="54864" h="822960">
                <a:moveTo>
                  <a:pt x="0" y="0"/>
                </a:moveTo>
                <a:lnTo>
                  <a:pt x="54864" y="0"/>
                </a:lnTo>
                <a:lnTo>
                  <a:pt x="54864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28216"/>
            <a:ext cx="35204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将工程化原则应用于AI系统构建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3931920" cy="822960"/>
          </a:xfrm>
          <a:custGeom>
            <a:avLst/>
            <a:gdLst/>
            <a:ahLst/>
            <a:cxnLst/>
            <a:rect l="l" t="t" r="r" b="b"/>
            <a:pathLst>
              <a:path w="3931920" h="822960">
                <a:moveTo>
                  <a:pt x="0" y="0"/>
                </a:moveTo>
                <a:lnTo>
                  <a:pt x="3931920" y="0"/>
                </a:lnTo>
                <a:lnTo>
                  <a:pt x="39319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606040"/>
            <a:ext cx="54864" cy="822960"/>
          </a:xfrm>
          <a:custGeom>
            <a:avLst/>
            <a:gdLst/>
            <a:ahLst/>
            <a:cxnLst/>
            <a:rect l="l" t="t" r="r" b="b"/>
            <a:pathLst>
              <a:path w="54864" h="822960">
                <a:moveTo>
                  <a:pt x="0" y="0"/>
                </a:moveTo>
                <a:lnTo>
                  <a:pt x="54864" y="0"/>
                </a:lnTo>
                <a:lnTo>
                  <a:pt x="54864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779776"/>
            <a:ext cx="35204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提升系统可靠性与可扩展性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48640" y="3657600"/>
            <a:ext cx="3931920" cy="822960"/>
          </a:xfrm>
          <a:custGeom>
            <a:avLst/>
            <a:gdLst/>
            <a:ahLst/>
            <a:cxnLst/>
            <a:rect l="l" t="t" r="r" b="b"/>
            <a:pathLst>
              <a:path w="3931920" h="822960">
                <a:moveTo>
                  <a:pt x="0" y="0"/>
                </a:moveTo>
                <a:lnTo>
                  <a:pt x="3931920" y="0"/>
                </a:lnTo>
                <a:lnTo>
                  <a:pt x="39319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3657600"/>
            <a:ext cx="54864" cy="822960"/>
          </a:xfrm>
          <a:custGeom>
            <a:avLst/>
            <a:gdLst/>
            <a:ahLst/>
            <a:cxnLst/>
            <a:rect l="l" t="t" r="r" b="b"/>
            <a:pathLst>
              <a:path w="54864" h="822960">
                <a:moveTo>
                  <a:pt x="0" y="0"/>
                </a:moveTo>
                <a:lnTo>
                  <a:pt x="54864" y="0"/>
                </a:lnTo>
                <a:lnTo>
                  <a:pt x="54864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831336"/>
            <a:ext cx="35204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掌握系统化设计与部署方法</a:t>
            </a:r>
            <a:endParaRPr lang="en-US" sz="1152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554480"/>
            <a:ext cx="3840480" cy="21579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4880" y="3794760"/>
            <a:ext cx="384048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AI神经网络与工程蓝图的融合概念图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传统软件工程 vs. AI 工程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27432"/>
          </a:xfrm>
          <a:custGeom>
            <a:avLst/>
            <a:gdLst/>
            <a:ahLst/>
            <a:cxnLst/>
            <a:rect l="l" t="t" r="r" b="b"/>
            <a:pathLst>
              <a:path w="8046720" h="27432">
                <a:moveTo>
                  <a:pt x="0" y="0"/>
                </a:moveTo>
                <a:lnTo>
                  <a:pt x="8046720" y="0"/>
                </a:lnTo>
                <a:lnTo>
                  <a:pt x="8046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280160"/>
            <a:ext cx="3931920" cy="548640"/>
          </a:xfrm>
          <a:custGeom>
            <a:avLst/>
            <a:gdLst/>
            <a:ahLst/>
            <a:cxnLst/>
            <a:rect l="l" t="t" r="r" b="b"/>
            <a:pathLst>
              <a:path w="3931920" h="548640">
                <a:moveTo>
                  <a:pt x="0" y="0"/>
                </a:moveTo>
                <a:lnTo>
                  <a:pt x="3931920" y="0"/>
                </a:lnTo>
                <a:lnTo>
                  <a:pt x="39319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35661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传统：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逻辑驱动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(代码 + 规则)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4663440" y="1280160"/>
            <a:ext cx="3931920" cy="548640"/>
          </a:xfrm>
          <a:custGeom>
            <a:avLst/>
            <a:gdLst/>
            <a:ahLst/>
            <a:cxnLst/>
            <a:rect l="l" t="t" r="r" b="b"/>
            <a:pathLst>
              <a:path w="3931920" h="548640">
                <a:moveTo>
                  <a:pt x="0" y="0"/>
                </a:moveTo>
                <a:lnTo>
                  <a:pt x="3931920" y="0"/>
                </a:lnTo>
                <a:lnTo>
                  <a:pt x="39319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E0F2FE"/>
          </a:solidFill>
          <a:ln/>
        </p:spPr>
      </p:sp>
      <p:sp>
        <p:nvSpPr>
          <p:cNvPr id="8" name="Text 5"/>
          <p:cNvSpPr/>
          <p:nvPr/>
        </p:nvSpPr>
        <p:spPr>
          <a:xfrm>
            <a:off x="4846320" y="1325880"/>
            <a:ext cx="35661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(模型 + 概率)</a:t>
            </a:r>
            <a:endParaRPr lang="en-US" sz="1152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8046720" cy="1600200"/>
        </p:xfrm>
        <a:graphic>
          <a:graphicData uri="http://schemas.openxmlformats.org/drawingml/2006/table">
            <a:tbl>
              <a:tblPr/>
              <a:tblGrid>
                <a:gridCol w="1609344"/>
                <a:gridCol w="3218688"/>
                <a:gridCol w="3218688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比较项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传统软件工程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工程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开发流程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编码实现明确逻辑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通过数据训练学习模型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确定性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 (输入A必得结果B)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概率性 (基于分布预测)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维护重心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功能迭代 / 修复逻辑漏洞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性能监控 / 数据重训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数据依赖性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辅助角色 (存储与展示)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核心驱动 (决定模型上限)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3703320"/>
            <a:ext cx="8046720" cy="640080"/>
          </a:xfrm>
          <a:custGeom>
            <a:avLst/>
            <a:gdLst/>
            <a:ahLst/>
            <a:cxnLst/>
            <a:rect l="l" t="t" r="r" b="b"/>
            <a:pathLst>
              <a:path w="8046720" h="640080">
                <a:moveTo>
                  <a:pt x="0" y="0"/>
                </a:moveTo>
                <a:lnTo>
                  <a:pt x="8046720" y="0"/>
                </a:lnTo>
                <a:lnTo>
                  <a:pt x="80467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3785616"/>
            <a:ext cx="16459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工程核心挑战：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2377440" y="3785616"/>
            <a:ext cx="60350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数据偏移与模型衰减    • 算法黑盒特性的可解释性难题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工程全生命周期：从立项到持续监控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2926080" cy="36576"/>
          </a:xfrm>
          <a:custGeom>
            <a:avLst/>
            <a:gdLst/>
            <a:ahLst/>
            <a:cxnLst/>
            <a:rect l="l" t="t" r="r" b="b"/>
            <a:pathLst>
              <a:path w="2926080" h="36576">
                <a:moveTo>
                  <a:pt x="0" y="0"/>
                </a:moveTo>
                <a:lnTo>
                  <a:pt x="2926080" y="0"/>
                </a:lnTo>
                <a:lnTo>
                  <a:pt x="29260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463040"/>
            <a:ext cx="3657600" cy="14356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需求分析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：定义目标与可行性评估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数据准备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：采集、治理与特征工程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模型开发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：算法训练、优化与评估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部署发布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：服务化封装与集成部署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持续监控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：性能追踪与线上反馈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63040"/>
            <a:ext cx="4023360" cy="22585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200400"/>
            <a:ext cx="3657600" cy="1097280"/>
          </a:xfrm>
          <a:custGeom>
            <a:avLst/>
            <a:gdLst/>
            <a:ahLst/>
            <a:cxnLst/>
            <a:rect l="l" t="t" r="r" b="b"/>
            <a:pathLst>
              <a:path w="3657600" h="1097280">
                <a:moveTo>
                  <a:pt x="0" y="0"/>
                </a:moveTo>
                <a:lnTo>
                  <a:pt x="3657600" y="0"/>
                </a:lnTo>
                <a:lnTo>
                  <a:pt x="365760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EBF8FF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3401568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核心特征：非线性闭环迭代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工程路径并非单向线性，需根据监控反馈不断回溯调优各阶段。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需求分析与核心指标设定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27432"/>
          </a:xfrm>
          <a:custGeom>
            <a:avLst/>
            <a:gdLst/>
            <a:ahLst/>
            <a:cxnLst/>
            <a:rect l="l" t="t" r="r" b="b"/>
            <a:pathLst>
              <a:path w="8046720" h="27432">
                <a:moveTo>
                  <a:pt x="0" y="0"/>
                </a:moveTo>
                <a:lnTo>
                  <a:pt x="8046720" y="0"/>
                </a:lnTo>
                <a:lnTo>
                  <a:pt x="8046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2560320" cy="3200400"/>
          </a:xfrm>
          <a:custGeom>
            <a:avLst/>
            <a:gdLst/>
            <a:ahLst/>
            <a:cxnLst/>
            <a:rect l="l" t="t" r="r" b="b"/>
            <a:pathLst>
              <a:path w="2560320" h="3200400">
                <a:moveTo>
                  <a:pt x="0" y="0"/>
                </a:moveTo>
                <a:lnTo>
                  <a:pt x="2560320" y="0"/>
                </a:lnTo>
                <a:lnTo>
                  <a:pt x="2560320" y="3200400"/>
                </a:lnTo>
                <a:lnTo>
                  <a:pt x="0" y="3200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463040"/>
            <a:ext cx="2560320" cy="548640"/>
          </a:xfrm>
          <a:custGeom>
            <a:avLst/>
            <a:gdLst/>
            <a:ahLst/>
            <a:cxnLst/>
            <a:rect l="l" t="t" r="r" b="b"/>
            <a:pathLst>
              <a:path w="2560320" h="548640">
                <a:moveTo>
                  <a:pt x="0" y="0"/>
                </a:moveTo>
                <a:lnTo>
                  <a:pt x="2560320" y="0"/>
                </a:lnTo>
                <a:lnTo>
                  <a:pt x="25603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499616"/>
            <a:ext cx="21945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核心指标映射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731520" y="2194560"/>
            <a:ext cx="2194560" cy="10789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业务指标定义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技术指标转化 (F1/Recall)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建立端到端评估体系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线上线下指标一致性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2560320" cy="3200400"/>
          </a:xfrm>
          <a:custGeom>
            <a:avLst/>
            <a:gdLst/>
            <a:ahLst/>
            <a:cxnLst/>
            <a:rect l="l" t="t" r="r" b="b"/>
            <a:pathLst>
              <a:path w="2560320" h="3200400">
                <a:moveTo>
                  <a:pt x="0" y="0"/>
                </a:moveTo>
                <a:lnTo>
                  <a:pt x="2560320" y="0"/>
                </a:lnTo>
                <a:lnTo>
                  <a:pt x="2560320" y="3200400"/>
                </a:lnTo>
                <a:lnTo>
                  <a:pt x="0" y="3200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291840" y="1463040"/>
            <a:ext cx="2560320" cy="548640"/>
          </a:xfrm>
          <a:custGeom>
            <a:avLst/>
            <a:gdLst/>
            <a:ahLst/>
            <a:cxnLst/>
            <a:rect l="l" t="t" r="r" b="b"/>
            <a:pathLst>
              <a:path w="2560320" h="548640">
                <a:moveTo>
                  <a:pt x="0" y="0"/>
                </a:moveTo>
                <a:lnTo>
                  <a:pt x="2560320" y="0"/>
                </a:lnTo>
                <a:lnTo>
                  <a:pt x="25603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11" name="Text 8"/>
          <p:cNvSpPr/>
          <p:nvPr/>
        </p:nvSpPr>
        <p:spPr>
          <a:xfrm>
            <a:off x="3474720" y="1499616"/>
            <a:ext cx="21945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工程约束分析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3474720" y="2194560"/>
            <a:ext cx="2194560" cy="10789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响应延迟要求 (P99)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算力与内存资源预算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数据隐私与合规性限制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系统稳定性与容错性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>
            <a:off x="6035040" y="1463040"/>
            <a:ext cx="2560320" cy="3200400"/>
          </a:xfrm>
          <a:custGeom>
            <a:avLst/>
            <a:gdLst/>
            <a:ahLst/>
            <a:cxnLst/>
            <a:rect l="l" t="t" r="r" b="b"/>
            <a:pathLst>
              <a:path w="2560320" h="3200400">
                <a:moveTo>
                  <a:pt x="0" y="0"/>
                </a:moveTo>
                <a:lnTo>
                  <a:pt x="2560320" y="0"/>
                </a:lnTo>
                <a:lnTo>
                  <a:pt x="2560320" y="3200400"/>
                </a:lnTo>
                <a:lnTo>
                  <a:pt x="0" y="3200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6035040" y="1463040"/>
            <a:ext cx="2560320" cy="548640"/>
          </a:xfrm>
          <a:custGeom>
            <a:avLst/>
            <a:gdLst/>
            <a:ahLst/>
            <a:cxnLst/>
            <a:rect l="l" t="t" r="r" b="b"/>
            <a:pathLst>
              <a:path w="2560320" h="548640">
                <a:moveTo>
                  <a:pt x="0" y="0"/>
                </a:moveTo>
                <a:lnTo>
                  <a:pt x="2560320" y="0"/>
                </a:lnTo>
                <a:lnTo>
                  <a:pt x="25603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EE2E2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1499616"/>
            <a:ext cx="21945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风险与安全评估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6217920" y="2194560"/>
            <a:ext cx="2194560" cy="10789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模型偏差与公平性审计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对抗性攻击漏洞扫描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异常场景下的降级策略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长期维护成本预估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数据架构与流水线设计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1645920" cy="36576"/>
          </a:xfrm>
          <a:custGeom>
            <a:avLst/>
            <a:gdLst/>
            <a:ahLst/>
            <a:cxnLst/>
            <a:rect l="l" t="t" r="r" b="b"/>
            <a:pathLst>
              <a:path w="1645920" h="36576">
                <a:moveTo>
                  <a:pt x="0" y="0"/>
                </a:moveTo>
                <a:lnTo>
                  <a:pt x="1645920" y="0"/>
                </a:lnTo>
                <a:lnTo>
                  <a:pt x="16459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3840480" cy="1517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自动化流水线 (ETL)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实现数据采集、清洗与特征提取的工程化闭环，确保AI模型输入的一致性与时效性。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数据治理与质量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通过版本控制与元数据管理，建立严格的质量检查机制，构建可信的数据基石。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63040"/>
            <a:ext cx="4023360" cy="225856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3840480" cy="1463040"/>
        </p:xfrm>
        <a:graphic>
          <a:graphicData uri="http://schemas.openxmlformats.org/drawingml/2006/table">
            <a:tbl>
              <a:tblPr/>
              <a:tblGrid>
                <a:gridCol w="1152144"/>
                <a:gridCol w="2688336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存储类型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核心应用场景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SQL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结构化元数据、事务处理与审计日志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NoSQL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海量非结构化原始数据、灵活Schema扩展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Vector DB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高维特征检索、RAG增强生成与相似性搜索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4572000" y="3840480"/>
            <a:ext cx="40233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技术示意：从源端到向量检索的典型数据流转路径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模型选择与基础设施：系统性权衡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27432"/>
          </a:xfrm>
          <a:custGeom>
            <a:avLst/>
            <a:gdLst/>
            <a:ahLst/>
            <a:cxnLst/>
            <a:rect l="l" t="t" r="r" b="b"/>
            <a:pathLst>
              <a:path w="8046720" h="27432">
                <a:moveTo>
                  <a:pt x="0" y="0"/>
                </a:moveTo>
                <a:lnTo>
                  <a:pt x="8046720" y="0"/>
                </a:lnTo>
                <a:lnTo>
                  <a:pt x="8046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71600"/>
            <a:ext cx="39319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核心工程权衡 (Trade-offs)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931920" cy="1188720"/>
          </a:xfrm>
          <a:custGeom>
            <a:avLst/>
            <a:gdLst/>
            <a:ahLst/>
            <a:cxnLst/>
            <a:rect l="l" t="t" r="r" b="b"/>
            <a:pathLst>
              <a:path w="3931920" h="1188720">
                <a:moveTo>
                  <a:pt x="0" y="0"/>
                </a:moveTo>
                <a:lnTo>
                  <a:pt x="3931920" y="0"/>
                </a:lnTo>
                <a:lnTo>
                  <a:pt x="393192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084832"/>
            <a:ext cx="356616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准确度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：模型预测的精度表现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推理速度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：端到端响应延迟 (Latency)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显存占用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：运行时内存消耗 (VRAM)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4663440" y="1371600"/>
            <a:ext cx="39319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算力架构选择策略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4663440" y="1965960"/>
            <a:ext cx="3931920" cy="1188720"/>
          </a:xfrm>
          <a:custGeom>
            <a:avLst/>
            <a:gdLst/>
            <a:ahLst/>
            <a:cxnLst/>
            <a:rect l="l" t="t" r="r" b="b"/>
            <a:pathLst>
              <a:path w="3931920" h="1188720">
                <a:moveTo>
                  <a:pt x="0" y="0"/>
                </a:moveTo>
                <a:lnTo>
                  <a:pt x="3931920" y="0"/>
                </a:lnTo>
                <a:lnTo>
                  <a:pt x="393192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2084832"/>
            <a:ext cx="356616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：低吞吐、复杂逻辑、高实时性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：高吞吐并行计算、模型训练首选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TPU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：大规模深度学习负载、极致能效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8046720" cy="9144"/>
          </a:xfrm>
          <a:custGeom>
            <a:avLst/>
            <a:gdLst/>
            <a:ahLst/>
            <a:cxnLst/>
            <a:rect l="l" t="t" r="r" b="b"/>
            <a:pathLst>
              <a:path w="8046720" h="9144">
                <a:moveTo>
                  <a:pt x="0" y="0"/>
                </a:moveTo>
                <a:lnTo>
                  <a:pt x="8046720" y="0"/>
                </a:lnTo>
                <a:lnTo>
                  <a:pt x="80467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520440"/>
            <a:ext cx="80467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模型压缩与工程落地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2560320" cy="914400"/>
          </a:xfrm>
          <a:custGeom>
            <a:avLst/>
            <a:gdLst/>
            <a:ahLst/>
            <a:cxnLst/>
            <a:rect l="l" t="t" r="r" b="b"/>
            <a:pathLst>
              <a:path w="2560320" h="914400">
                <a:moveTo>
                  <a:pt x="0" y="0"/>
                </a:moveTo>
                <a:lnTo>
                  <a:pt x="2560320" y="0"/>
                </a:lnTo>
                <a:lnTo>
                  <a:pt x="25603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BF8FF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22452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剪枝 (Pruning)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移除模型中冗余参数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3291840" y="4114800"/>
            <a:ext cx="2560320" cy="914400"/>
          </a:xfrm>
          <a:custGeom>
            <a:avLst/>
            <a:gdLst/>
            <a:ahLst/>
            <a:cxnLst/>
            <a:rect l="l" t="t" r="r" b="b"/>
            <a:pathLst>
              <a:path w="2560320" h="914400">
                <a:moveTo>
                  <a:pt x="0" y="0"/>
                </a:moveTo>
                <a:lnTo>
                  <a:pt x="2560320" y="0"/>
                </a:lnTo>
                <a:lnTo>
                  <a:pt x="25603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0FFF4"/>
          </a:solidFill>
          <a:ln/>
        </p:spPr>
      </p:sp>
      <p:sp>
        <p:nvSpPr>
          <p:cNvPr id="16" name="Text 13"/>
          <p:cNvSpPr/>
          <p:nvPr/>
        </p:nvSpPr>
        <p:spPr>
          <a:xfrm>
            <a:off x="3474720" y="422452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 (Quantization)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降低数值精度减少开销</a:t>
            </a:r>
            <a:endParaRPr lang="en-US" sz="1152" dirty="0"/>
          </a:p>
        </p:txBody>
      </p:sp>
      <p:sp>
        <p:nvSpPr>
          <p:cNvPr id="17" name="Shape 14"/>
          <p:cNvSpPr/>
          <p:nvPr/>
        </p:nvSpPr>
        <p:spPr>
          <a:xfrm>
            <a:off x="6035040" y="4114800"/>
            <a:ext cx="2560320" cy="914400"/>
          </a:xfrm>
          <a:custGeom>
            <a:avLst/>
            <a:gdLst/>
            <a:ahLst/>
            <a:cxnLst/>
            <a:rect l="l" t="t" r="r" b="b"/>
            <a:pathLst>
              <a:path w="2560320" h="914400">
                <a:moveTo>
                  <a:pt x="0" y="0"/>
                </a:moveTo>
                <a:lnTo>
                  <a:pt x="2560320" y="0"/>
                </a:lnTo>
                <a:lnTo>
                  <a:pt x="25603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FFAF0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422452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蒸馏 (Distillation)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知识从小模型向大模型迁移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部署策略：从实验室到生产环境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70432"/>
            <a:ext cx="4114800" cy="36576"/>
          </a:xfrm>
          <a:custGeom>
            <a:avLst/>
            <a:gdLst/>
            <a:ahLst/>
            <a:cxnLst/>
            <a:rect l="l" t="t" r="r" b="b"/>
            <a:pathLst>
              <a:path w="4114800" h="36576">
                <a:moveTo>
                  <a:pt x="0" y="0"/>
                </a:moveTo>
                <a:lnTo>
                  <a:pt x="4114800" y="0"/>
                </a:lnTo>
                <a:lnTo>
                  <a:pt x="41148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36576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服务模式选择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在线服务：实时推理，低延迟要求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离线批处理：高吞吐，非即时响应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48640" y="2651760"/>
            <a:ext cx="36576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发布策略对比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731520" y="3017520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蓝绿部署：全量切换，极速回滚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灰度发布 (Canary)：逐步引流，风险可控</a:t>
            </a:r>
            <a:endParaRPr lang="en-US" sz="1152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572000" y="1463040"/>
            <a:ext cx="4023360" cy="22585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0" y="3767328"/>
            <a:ext cx="40233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示意图：灰度发布中的流量负载均衡控制</a:t>
            </a:r>
            <a:endParaRPr lang="en-US" sz="1152" dirty="0"/>
          </a:p>
        </p:txBody>
      </p:sp>
      <p:sp>
        <p:nvSpPr>
          <p:cNvPr id="11" name="Shape 7"/>
          <p:cNvSpPr/>
          <p:nvPr/>
        </p:nvSpPr>
        <p:spPr>
          <a:xfrm>
            <a:off x="548640" y="4251960"/>
            <a:ext cx="8046720" cy="640080"/>
          </a:xfrm>
          <a:custGeom>
            <a:avLst/>
            <a:gdLst/>
            <a:ahLst/>
            <a:cxnLst/>
            <a:rect l="l" t="t" r="r" b="b"/>
            <a:pathLst>
              <a:path w="8046720" h="640080">
                <a:moveTo>
                  <a:pt x="0" y="0"/>
                </a:moveTo>
                <a:lnTo>
                  <a:pt x="8046720" y="0"/>
                </a:lnTo>
                <a:lnTo>
                  <a:pt x="80467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4334256"/>
            <a:ext cx="76809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容器化技术：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Docker &amp; Kubernetes 保证环境部署的一致性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监控与持续改进：MLOps 核心闭环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645920"/>
            <a:ext cx="2377440" cy="2560320"/>
          </a:xfrm>
          <a:custGeom>
            <a:avLst/>
            <a:gdLst/>
            <a:ahLst/>
            <a:cxnLst/>
            <a:rect l="l" t="t" r="r" b="b"/>
            <a:pathLst>
              <a:path w="2377440" h="2560320">
                <a:moveTo>
                  <a:pt x="0" y="0"/>
                </a:moveTo>
                <a:lnTo>
                  <a:pt x="2377440" y="0"/>
                </a:lnTo>
                <a:lnTo>
                  <a:pt x="237744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828800"/>
            <a:ext cx="201168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性能监控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2423160"/>
            <a:ext cx="2011680" cy="12984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概念偏移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：检测模型推理逻辑失效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数据偏移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：监控输入分布特征变化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衰减预警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：性能指标异常触发报警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383280" y="1645920"/>
            <a:ext cx="2377440" cy="2560320"/>
          </a:xfrm>
          <a:custGeom>
            <a:avLst/>
            <a:gdLst/>
            <a:ahLst/>
            <a:cxnLst/>
            <a:rect l="l" t="t" r="r" b="b"/>
            <a:pathLst>
              <a:path w="2377440" h="2560320">
                <a:moveTo>
                  <a:pt x="0" y="0"/>
                </a:moveTo>
                <a:lnTo>
                  <a:pt x="2377440" y="0"/>
                </a:lnTo>
                <a:lnTo>
                  <a:pt x="237744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9" name="Text 6"/>
          <p:cNvSpPr/>
          <p:nvPr/>
        </p:nvSpPr>
        <p:spPr>
          <a:xfrm>
            <a:off x="3566160" y="1828800"/>
            <a:ext cx="201168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自动重训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566160" y="2423160"/>
            <a:ext cx="2011680" cy="12984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：设定时间窗口或性能阈值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闭环反馈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：自动化标注与样本更新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影子测试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：新旧模型并行验证效果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6217920" y="1645920"/>
            <a:ext cx="2377440" cy="2560320"/>
          </a:xfrm>
          <a:custGeom>
            <a:avLst/>
            <a:gdLst/>
            <a:ahLst/>
            <a:cxnLst/>
            <a:rect l="l" t="t" r="r" b="b"/>
            <a:pathLst>
              <a:path w="2377440" h="2560320">
                <a:moveTo>
                  <a:pt x="0" y="0"/>
                </a:moveTo>
                <a:lnTo>
                  <a:pt x="2377440" y="0"/>
                </a:lnTo>
                <a:lnTo>
                  <a:pt x="237744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1828800"/>
            <a:ext cx="201168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诊断修复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400800" y="2423160"/>
            <a:ext cx="2011680" cy="12984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日志全链路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：溯源生产环境推理错误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：分析特征贡献定位偏见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版本回滚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：异常模型的一键容灾机制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2971800" y="2926080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27432">
            <a:solidFill>
              <a:srgbClr val="CBD5E1"/>
            </a:solidFill>
            <a:prstDash val="solid"/>
            <a:headEnd type="none"/>
            <a:tailEnd type="arrow"/>
          </a:ln>
        </p:spPr>
      </p:sp>
      <p:sp>
        <p:nvSpPr>
          <p:cNvPr id="15" name="Shape 12"/>
          <p:cNvSpPr/>
          <p:nvPr/>
        </p:nvSpPr>
        <p:spPr>
          <a:xfrm>
            <a:off x="5806440" y="2926080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27432">
            <a:solidFill>
              <a:srgbClr val="CBD5E1"/>
            </a:solidFill>
            <a:prstDash val="solid"/>
            <a:headEnd type="none"/>
            <a:tailEnd type="arrow"/>
          </a:ln>
        </p:spPr>
      </p:sp>
      <p:sp>
        <p:nvSpPr>
          <p:cNvPr id="16" name="Text 13"/>
          <p:cNvSpPr/>
          <p:nvPr/>
        </p:nvSpPr>
        <p:spPr>
          <a:xfrm>
            <a:off x="548640" y="4480560"/>
            <a:ext cx="8046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持续观测 → 自动迭代 → 可信部署：构建稳健的 AI 系统工程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安全、隐私与伦理设计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80467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在工程层面实现负责任的人工智能架构设计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4023360" cy="18288"/>
          </a:xfrm>
          <a:custGeom>
            <a:avLst/>
            <a:gdLst/>
            <a:ahLst/>
            <a:cxnLst/>
            <a:rect l="l" t="t" r="r" b="b"/>
            <a:pathLst>
              <a:path w="4023360" h="18288">
                <a:moveTo>
                  <a:pt x="0" y="0"/>
                </a:moveTo>
                <a:lnTo>
                  <a:pt x="4023360" y="0"/>
                </a:lnTo>
                <a:lnTo>
                  <a:pt x="402336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645920"/>
            <a:ext cx="4023360" cy="914400"/>
          </a:xfrm>
          <a:custGeom>
            <a:avLst/>
            <a:gdLst/>
            <a:ahLst/>
            <a:cxnLst/>
            <a:rect l="l" t="t" r="r" b="b"/>
            <a:pathLst>
              <a:path w="4023360" h="914400">
                <a:moveTo>
                  <a:pt x="0" y="0"/>
                </a:moveTo>
                <a:lnTo>
                  <a:pt x="4023360" y="0"/>
                </a:lnTo>
                <a:lnTo>
                  <a:pt x="402336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755648"/>
            <a:ext cx="37490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隐私保护技术实现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联邦学习确保数据不动，差异隐私平衡效用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4023360" cy="914400"/>
          </a:xfrm>
          <a:custGeom>
            <a:avLst/>
            <a:gdLst/>
            <a:ahLst/>
            <a:cxnLst/>
            <a:rect l="l" t="t" r="r" b="b"/>
            <a:pathLst>
              <a:path w="4023360" h="914400">
                <a:moveTo>
                  <a:pt x="0" y="0"/>
                </a:moveTo>
                <a:lnTo>
                  <a:pt x="4023360" y="0"/>
                </a:lnTo>
                <a:lnTo>
                  <a:pt x="402336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852928"/>
            <a:ext cx="37490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对抗性攻击防御设计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对抗训练增强鲁棒性，构建多层安全边界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548640" y="3840480"/>
            <a:ext cx="4023360" cy="914400"/>
          </a:xfrm>
          <a:custGeom>
            <a:avLst/>
            <a:gdLst/>
            <a:ahLst/>
            <a:cxnLst/>
            <a:rect l="l" t="t" r="r" b="b"/>
            <a:pathLst>
              <a:path w="4023360" h="914400">
                <a:moveTo>
                  <a:pt x="0" y="0"/>
                </a:moveTo>
                <a:lnTo>
                  <a:pt x="4023360" y="0"/>
                </a:lnTo>
                <a:lnTo>
                  <a:pt x="402336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950208"/>
            <a:ext cx="37490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合规性与伦理工程化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符合GDPR法律要求，确保系统公平透明</a:t>
            </a:r>
            <a:endParaRPr lang="en-US" sz="1152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645920"/>
            <a:ext cx="3657600" cy="2057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0" y="3794760"/>
            <a:ext cx="36576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图示：负责任AI的系统性防护架构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未来趋势与课程总结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3657600" y="1143000"/>
            <a:ext cx="1828800" cy="36576"/>
          </a:xfrm>
          <a:custGeom>
            <a:avLst/>
            <a:gdLst/>
            <a:ahLst/>
            <a:cxnLst/>
            <a:rect l="l" t="t" r="r" b="b"/>
            <a:pathLst>
              <a:path w="1828800" h="36576">
                <a:moveTo>
                  <a:pt x="0" y="0"/>
                </a:moveTo>
                <a:lnTo>
                  <a:pt x="1828800" y="0"/>
                </a:lnTo>
                <a:lnTo>
                  <a:pt x="18288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931920" cy="2011680"/>
          </a:xfrm>
          <a:custGeom>
            <a:avLst/>
            <a:gdLst/>
            <a:ahLst/>
            <a:cxnLst/>
            <a:rect l="l" t="t" r="r" b="b"/>
            <a:pathLst>
              <a:path w="3931920" h="2011680">
                <a:moveTo>
                  <a:pt x="0" y="0"/>
                </a:moveTo>
                <a:lnTo>
                  <a:pt x="3931920" y="0"/>
                </a:lnTo>
                <a:lnTo>
                  <a:pt x="3931920" y="2011680"/>
                </a:lnTo>
                <a:lnTo>
                  <a:pt x="0" y="201168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801368"/>
            <a:ext cx="35661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课程核心回顾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2441448"/>
            <a:ext cx="35661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从数据到部署的工程化思维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全生命周期系统架构设计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663440" y="1463040"/>
            <a:ext cx="3931920" cy="2011680"/>
          </a:xfrm>
          <a:custGeom>
            <a:avLst/>
            <a:gdLst/>
            <a:ahLst/>
            <a:cxnLst/>
            <a:rect l="l" t="t" r="r" b="b"/>
            <a:pathLst>
              <a:path w="3931920" h="2011680">
                <a:moveTo>
                  <a:pt x="0" y="0"/>
                </a:moveTo>
                <a:lnTo>
                  <a:pt x="3931920" y="0"/>
                </a:lnTo>
                <a:lnTo>
                  <a:pt x="3931920" y="2011680"/>
                </a:lnTo>
                <a:lnTo>
                  <a:pt x="0" y="201168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801368"/>
            <a:ext cx="35661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前沿趋势展望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846320" y="2441448"/>
            <a:ext cx="35661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大模型工程化 (LLMOps)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端云协同计算架构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8046720" cy="914400"/>
          </a:xfrm>
          <a:custGeom>
            <a:avLst/>
            <a:gdLst/>
            <a:ahLst/>
            <a:cxnLst/>
            <a:rect l="l" t="t" r="r" b="b"/>
            <a:pathLst>
              <a:path w="8046720" h="914400">
                <a:moveTo>
                  <a:pt x="0" y="0"/>
                </a:moveTo>
                <a:lnTo>
                  <a:pt x="8046720" y="0"/>
                </a:lnTo>
                <a:lnTo>
                  <a:pt x="8046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EF3C7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941064"/>
            <a:ext cx="73152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成为兼具算法深度与工程广度的AI专家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2026-04-11T09:22:12Z</dcterms:created>
  <dcterms:modified xsi:type="dcterms:W3CDTF">2026-04-11T09:22:12Z</dcterms:modified>
</cp:coreProperties>
</file>