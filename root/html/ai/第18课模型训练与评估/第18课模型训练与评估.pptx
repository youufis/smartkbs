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4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E53E3E"/>
            </a:solidFill>
            <a:ln w="25400" cap="flat">
              <a:solidFill>
                <a:srgbClr val="E53E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53E3E"/>
              </a:solidFill>
              <a:ln w="9525" cap="flat">
                <a:solidFill>
                  <a:srgbClr val="E53E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20</c:v>
                  </c:pt>
                  <c:pt idx="2">
                    <c:v>40</c:v>
                  </c:pt>
                  <c:pt idx="3">
                    <c:v>60</c:v>
                  </c:pt>
                  <c:pt idx="4">
                    <c:v>80</c:v>
                  </c:pt>
                  <c:pt idx="5">
                    <c:v>100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1.2</c:v>
                </c:pt>
                <c:pt idx="1">
                  <c:v>0.7</c:v>
                </c:pt>
                <c:pt idx="2">
                  <c:v>0.4</c:v>
                </c:pt>
                <c:pt idx="3">
                  <c:v>0.25</c:v>
                </c:pt>
                <c:pt idx="4">
                  <c:v>0.15</c:v>
                </c:pt>
                <c:pt idx="5">
                  <c:v>0.08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8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8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大家好，欢迎来到人工智能实验室！我是林老师。今天我们将开启第18课的学习，重点探讨“模型训练与评估”的全貌。这不仅是技术实现的关键，更是让机器真正产生“智能”的核心环节。
大家可以先看这张机器学习工作流图。从数据输入到模型产出，这是一个完整的闭环。我们要理解模型是如何从枯燥的数据中，通过训练演变成能够预测未来的工具的。
首先，我们要揭开训练的神秘面纱。训练的本质其实就是“参数优化”，也就是在数学空间里寻找那组能让模型表现最好的最优解。
紧接着是评估。训练出一个模型并不难，难的是如何定义一个“好”模型。我们会学习多维度的准则，不仅仅看准确率，还要看模型在不同场景下的稳定性和可靠性。
本节课的目标就是带大家完成从全流程剖析到核心指标理解的跨越。思涵、浩然，还有UNET，准备好跟小云助教和我一起深入探索了吗？我们马上开始！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在刚才的概览中，我们提到了模型训练的宏观流程。现在，让我们深入探索其中最核心的组件——损失函数。
损失函数在数学上就是一个衡量“差距”的函数。它负责量化模型当前的预测值与真实目标值之间的不一致程度。简单来说，它就像一把尺子，告诉我们模型错得有多离谱。
针对不同的任务，我们要选对合适的“尺子”。比如在做房价预测等回归任务时，我们常用均方误差 MSE；而在识别图片是猫还是狗的分类任务中，交叉熵 Cross-Entropy 则是标配。思涵，你可以多留意这两者在数据表现上的差异。
整个模型训练的核心目标，就是通过不断调整内部参数，去最小化这个损失函数的值。当损失值达到最小，通常意味着我们的模型已经学会了如何准确地进行预测。
大家观察右侧这张损失下降曲线图，X轴是迭代次数，Y轴是损失值。理想情况下，随着训练的进行，曲线应该像这样平滑地下降。如果曲线不降反升，那就说明我们的训练出问题了。
理解了损失函数，我们才能真正掌握模型是如何“学习”的。浩然，你觉得如果损失函数下降得非常缓慢，可能会是哪些因素导致的？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了解了模型如何通过训练缩小差距，我们紧接着要思考一个更核心的问题：我们练出来的模型，真的能在现实世界里派上用场吗？
为了验证这一点，我们需要把数据分成两部分。首先是训练集，它就像是学生的“课本练习”，模型在这里反复揣摩、学习已知数据的规律。
而测试集则是模拟“真实考试”。只有用模型从未见过的新题目去考它，我们才能知道它是否具备处理未知情况的能力。
这就是评估的核心——泛化能力。我们要看模型到底是真正“掌握了规律”，还是仅仅把训练题目的答案给“死记硬背”了下来。
大家一定要注意：在训练集上拿到高精度并不代表模型就好。如果它在考试，也就是测试集上表现糟糕，那它的精度就毫无意义。接下来，我们将学习如何用具体的指标来量化这种表现。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承接刚才提到的模型表现量化问题，我们要进入分类任务中最基础、也最重要的工具——混淆矩阵。它是我们理解模型到底在“哪里”犯错的基石，而不仅仅是一个冷冰冰的分数。
大家看中间这张表格。混淆矩阵的精髓在于“对比”：每一行代表样本的真实类别，而每一列代表模型给出的预测类别。通过这种交叉比对，我们可以清晰地看到模型在不同类别上的判断偏好。
这里有四个核心术语：TP、TN、FP和FN。理解它们的窍门是看字母组合：第一个字母代表预测是否正确，True是对，False是错；第二个字母代表预测的结果。比如FP，就是“预测为正，但预测错了”，也就是我们常说的误报。
基于这四个基础数值，我们可以推导出准确率、精确率和召回率等一系列多维指标。在接下来的环节中，我们会深入探讨为什么在某些场景下，只看准确率是远远不够的。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刚才我们通过混淆矩阵看清了分类的全貌，现在我们要进一步提炼出比准确率更有针对性的指标。这就是在工业界和学术界都极其重要的：精确率与召回率。
首先来看精确率（Precision），也就是查准率。它关注的是：在所有模型认为是“正”的样本里，到底有多少是真的？如果一个垃圾邮件过滤器精确率很高，就意味着它很少会把正常的邮件误判为垃圾邮件。
接着看召回率（Recall），也叫查全率。它关注的是：在实际所有的“正”样本里，模型成功搜寻出了多少？回到垃圾邮件的例子，高召回率意味着绝大多数垃圾邮件都能被拦截，不会漏掉。
但在现实中，我们往往很难让这两个指标同时达到完美。为了综合评估模型的表现，我们引入了 F1-Score。它是精确率和召回率的调和平均数，能有效地平衡两者，防止模型在某一方面走向极端。
我们来看看这个医疗诊断的案例。在癌症筛查中，漏诊的代价是巨大的，所以我们倾向于牺牲一定的精确率来换取极高的召回率；而在法庭判决中，为了避免冤假错案，精确率则显得更为重要。这种权衡正是模型调优的艺术所在。大家可以思考一下，在你们熟悉的场景中，更看重哪一个指标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在讨论完精确率和召回率这些评估标准后，我们必须面对一个核心挑战：为什么模型在实际表现中会不如预期？这通常是因为掉进了训练的两个陷阱——欠拟合与过拟合。
首先看欠拟合。这好比一个学生在复习时只记住了大标题，没有掌握细节。模型由于过于简单，连训练数据中的基本规律都学不会，导致在训练集和测试集上的表现都很糟糕。
而过拟合则是另一个极端。模型由于过于复杂，不仅学会了规律，甚至把数据中的随机噪声和干扰项也‘背’了下来。这就像死记硬背的学生，考试时只要题目稍作变动就无法应对了。
请看这张误差曲线图。随着模型复杂度增加，训练误差会持续下降，但验证误差在到达一个平衡点后反而会上升。我们要寻找的，正是这两个指标都能达到理想水平的‘黄金分割点’。
总结一下，识别它们的关键就在于观察训练误差与验证误差之间的差距。差距过大往往预示着过拟合的发生。理解了这一点，我们才能在下一节课中学习如何科学地制定评估流程。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既然我们已经掌握了各种评估指标和过拟合、欠拟合的概念，现在让我们将这些知识串联起来，总结出一套科学的模型评估标准化流程。
流程的第一步，也是最基础的一步，是进行严格的数据划分。正如我们前面讨论过的，训练集、验证集和测试集必须界限分明，才能建立一个严谨的实验验证基准，确保评估结果的真实性。
第二步是进行多维度的指标监控。绝不能迷信单一的准确率，我们要结合混淆矩阵、召回率、F1值等，全面观察模型在不同类别、不同侧重点下的真实表现。
第三步则是基于评估反馈进行诊断和迭代。利用我们刚才学习的偏差-方差深度分析，判断模型是处于欠拟合还是过拟合状态，并据此调整模型架构或超参数。
在课程结束之际，我想送给大家这句话：好的模型是“评”出来的，而不仅仅是“练”出来的。科学的评估才是AI落地的灵魂。感谢大家今天的参与，希望这套流程能成为你们未来实战的指南针。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第18课：模型训练与评估概览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52144"/>
            <a:ext cx="8046720" cy="18288"/>
          </a:xfrm>
          <a:custGeom>
            <a:avLst/>
            <a:gdLst/>
            <a:ahLst/>
            <a:cxnLst/>
            <a:rect l="l" t="t" r="r" b="b"/>
            <a:pathLst>
              <a:path w="8046720" h="18288">
                <a:moveTo>
                  <a:pt x="0" y="0"/>
                </a:moveTo>
                <a:lnTo>
                  <a:pt x="8046720" y="0"/>
                </a:lnTo>
                <a:lnTo>
                  <a:pt x="804672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E2E8F0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371600"/>
            <a:ext cx="2560320" cy="1005840"/>
          </a:xfrm>
          <a:custGeom>
            <a:avLst/>
            <a:gdLst/>
            <a:ahLst/>
            <a:cxnLst/>
            <a:rect l="l" t="t" r="r" b="b"/>
            <a:pathLst>
              <a:path w="2560320" h="1005840">
                <a:moveTo>
                  <a:pt x="0" y="0"/>
                </a:moveTo>
                <a:lnTo>
                  <a:pt x="2560320" y="0"/>
                </a:lnTo>
                <a:lnTo>
                  <a:pt x="2560320" y="1005840"/>
                </a:lnTo>
                <a:lnTo>
                  <a:pt x="0" y="100584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527048"/>
            <a:ext cx="21945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训练本质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参数优化的核心过程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3291840" y="1371600"/>
            <a:ext cx="2560320" cy="1005840"/>
          </a:xfrm>
          <a:custGeom>
            <a:avLst/>
            <a:gdLst/>
            <a:ahLst/>
            <a:cxnLst/>
            <a:rect l="l" t="t" r="r" b="b"/>
            <a:pathLst>
              <a:path w="2560320" h="1005840">
                <a:moveTo>
                  <a:pt x="0" y="0"/>
                </a:moveTo>
                <a:lnTo>
                  <a:pt x="2560320" y="0"/>
                </a:lnTo>
                <a:lnTo>
                  <a:pt x="2560320" y="1005840"/>
                </a:lnTo>
                <a:lnTo>
                  <a:pt x="0" y="100584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8" name="Text 5"/>
          <p:cNvSpPr/>
          <p:nvPr/>
        </p:nvSpPr>
        <p:spPr>
          <a:xfrm>
            <a:off x="3474720" y="1527048"/>
            <a:ext cx="21945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评估逻辑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定义“好”模型的多维准则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6035040" y="1371600"/>
            <a:ext cx="2560320" cy="1005840"/>
          </a:xfrm>
          <a:custGeom>
            <a:avLst/>
            <a:gdLst/>
            <a:ahLst/>
            <a:cxnLst/>
            <a:rect l="l" t="t" r="r" b="b"/>
            <a:pathLst>
              <a:path w="2560320" h="1005840">
                <a:moveTo>
                  <a:pt x="0" y="0"/>
                </a:moveTo>
                <a:lnTo>
                  <a:pt x="2560320" y="0"/>
                </a:lnTo>
                <a:lnTo>
                  <a:pt x="2560320" y="1005840"/>
                </a:lnTo>
                <a:lnTo>
                  <a:pt x="0" y="100584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0" y="1527048"/>
            <a:ext cx="21945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课程目标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全流程剖析与指标理解</a:t>
            </a:r>
            <a:endParaRPr lang="en-US" sz="1152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2560320"/>
            <a:ext cx="4114800" cy="23134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0" y="4873752"/>
            <a:ext cx="365760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机器学习工作流：从数据到评估的闭环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模型训练的核心：损失函数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060704"/>
            <a:ext cx="3840480" cy="36576"/>
          </a:xfrm>
          <a:custGeom>
            <a:avLst/>
            <a:gdLst/>
            <a:ahLst/>
            <a:cxnLst/>
            <a:rect l="l" t="t" r="r" b="b"/>
            <a:pathLst>
              <a:path w="3840480" h="36576">
                <a:moveTo>
                  <a:pt x="0" y="0"/>
                </a:moveTo>
                <a:lnTo>
                  <a:pt x="3840480" y="0"/>
                </a:lnTo>
                <a:lnTo>
                  <a:pt x="38404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280160"/>
            <a:ext cx="3840480" cy="1005840"/>
          </a:xfrm>
          <a:custGeom>
            <a:avLst/>
            <a:gdLst/>
            <a:ahLst/>
            <a:cxnLst/>
            <a:rect l="l" t="t" r="r" b="b"/>
            <a:pathLst>
              <a:path w="3840480" h="1005840">
                <a:moveTo>
                  <a:pt x="0" y="0"/>
                </a:moveTo>
                <a:lnTo>
                  <a:pt x="3840480" y="0"/>
                </a:lnTo>
                <a:lnTo>
                  <a:pt x="3840480" y="1005840"/>
                </a:lnTo>
                <a:lnTo>
                  <a:pt x="0" y="100584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435608"/>
            <a:ext cx="3474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 (Definition)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衡量模型预测值与真实值之间差距的函数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548640" y="2468880"/>
            <a:ext cx="384048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常见损失函数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548640" y="2834640"/>
            <a:ext cx="384048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均方误差 (MSE)：用于回归任务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交叉熵 (Cross-Entropy)：用于分类任务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548640" y="3749040"/>
            <a:ext cx="3840480" cy="777240"/>
          </a:xfrm>
          <a:custGeom>
            <a:avLst/>
            <a:gdLst/>
            <a:ahLst/>
            <a:cxnLst/>
            <a:rect l="l" t="t" r="r" b="b"/>
            <a:pathLst>
              <a:path w="3840480" h="777240">
                <a:moveTo>
                  <a:pt x="0" y="0"/>
                </a:moveTo>
                <a:lnTo>
                  <a:pt x="3840480" y="0"/>
                </a:lnTo>
                <a:lnTo>
                  <a:pt x="3840480" y="777240"/>
                </a:lnTo>
                <a:lnTo>
                  <a:pt x="0" y="777240"/>
                </a:lnTo>
                <a:close/>
              </a:path>
            </a:pathLst>
          </a:custGeom>
          <a:solidFill>
            <a:srgbClr val="EBF8FF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913632"/>
            <a:ext cx="34747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训练目标：最小化损失函数值</a:t>
            </a:r>
            <a:endParaRPr lang="en-US" sz="1152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280160"/>
            <a:ext cx="3749040" cy="21031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3520440"/>
            <a:ext cx="374904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损失下降曲线 (Loss Curve)</a:t>
            </a:r>
            <a:endParaRPr lang="en-US" sz="1152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846320" y="3931920"/>
          <a:ext cx="3749040" cy="914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为什么要进行模型评估？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70432"/>
            <a:ext cx="3291840" cy="36576"/>
          </a:xfrm>
          <a:custGeom>
            <a:avLst/>
            <a:gdLst/>
            <a:ahLst/>
            <a:cxnLst/>
            <a:rect l="l" t="t" r="r" b="b"/>
            <a:pathLst>
              <a:path w="3291840" h="36576">
                <a:moveTo>
                  <a:pt x="0" y="0"/>
                </a:moveTo>
                <a:lnTo>
                  <a:pt x="3291840" y="0"/>
                </a:lnTo>
                <a:lnTo>
                  <a:pt x="329184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554480"/>
            <a:ext cx="3657600" cy="1463040"/>
          </a:xfrm>
          <a:custGeom>
            <a:avLst/>
            <a:gdLst/>
            <a:ahLst/>
            <a:cxnLst/>
            <a:rect l="l" t="t" r="r" b="b"/>
            <a:pathLst>
              <a:path w="3657600" h="1463040">
                <a:moveTo>
                  <a:pt x="0" y="0"/>
                </a:moveTo>
                <a:lnTo>
                  <a:pt x="3657600" y="0"/>
                </a:lnTo>
                <a:lnTo>
                  <a:pt x="3657600" y="1463040"/>
                </a:lnTo>
                <a:lnTo>
                  <a:pt x="0" y="146304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938528"/>
            <a:ext cx="329184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训练集 (Training Set)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模拟“课本练习”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学习已知数据的规律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4251960" y="2286000"/>
            <a:ext cx="640080" cy="0"/>
          </a:xfrm>
          <a:custGeom>
            <a:avLst/>
            <a:gdLst/>
            <a:ahLst/>
            <a:cxnLst/>
            <a:rect l="l" t="t" r="r" b="b"/>
            <a:pathLst>
              <a:path w="640080" h="0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27432">
            <a:solidFill>
              <a:srgbClr val="A0AEC0"/>
            </a:solidFill>
            <a:prstDash val="solid"/>
            <a:headEnd type="none"/>
            <a:tailEnd type="arrow"/>
          </a:ln>
        </p:spPr>
      </p:sp>
      <p:sp>
        <p:nvSpPr>
          <p:cNvPr id="8" name="Shape 5"/>
          <p:cNvSpPr/>
          <p:nvPr/>
        </p:nvSpPr>
        <p:spPr>
          <a:xfrm>
            <a:off x="4937760" y="1554480"/>
            <a:ext cx="3657600" cy="1463040"/>
          </a:xfrm>
          <a:custGeom>
            <a:avLst/>
            <a:gdLst/>
            <a:ahLst/>
            <a:cxnLst/>
            <a:rect l="l" t="t" r="r" b="b"/>
            <a:pathLst>
              <a:path w="3657600" h="1463040">
                <a:moveTo>
                  <a:pt x="0" y="0"/>
                </a:moveTo>
                <a:lnTo>
                  <a:pt x="3657600" y="0"/>
                </a:lnTo>
                <a:lnTo>
                  <a:pt x="3657600" y="1463040"/>
                </a:lnTo>
                <a:lnTo>
                  <a:pt x="0" y="1463040"/>
                </a:lnTo>
                <a:close/>
              </a:path>
            </a:pathLst>
          </a:custGeom>
          <a:solidFill>
            <a:srgbClr val="F0FFF4"/>
          </a:solidFill>
          <a:ln/>
        </p:spPr>
      </p:sp>
      <p:sp>
        <p:nvSpPr>
          <p:cNvPr id="9" name="Text 6"/>
          <p:cNvSpPr/>
          <p:nvPr/>
        </p:nvSpPr>
        <p:spPr>
          <a:xfrm>
            <a:off x="5120640" y="1938528"/>
            <a:ext cx="329184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767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 (Test Set)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模拟“真实考试”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验证对新数据的处理能力</a:t>
            </a:r>
            <a:endParaRPr lang="en-US" sz="1152" dirty="0"/>
          </a:p>
        </p:txBody>
      </p:sp>
      <p:sp>
        <p:nvSpPr>
          <p:cNvPr id="10" name="Shape 7"/>
          <p:cNvSpPr/>
          <p:nvPr/>
        </p:nvSpPr>
        <p:spPr>
          <a:xfrm>
            <a:off x="2286000" y="3291840"/>
            <a:ext cx="4572000" cy="1097280"/>
          </a:xfrm>
          <a:custGeom>
            <a:avLst/>
            <a:gdLst/>
            <a:ahLst/>
            <a:cxnLst/>
            <a:rect l="l" t="t" r="r" b="b"/>
            <a:pathLst>
              <a:path w="4572000" h="1097280">
                <a:moveTo>
                  <a:pt x="0" y="0"/>
                </a:moveTo>
                <a:lnTo>
                  <a:pt x="4572000" y="0"/>
                </a:lnTo>
                <a:lnTo>
                  <a:pt x="4572000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FFFAF0"/>
          </a:solidFill>
          <a:ln/>
        </p:spPr>
      </p:sp>
      <p:sp>
        <p:nvSpPr>
          <p:cNvPr id="11" name="Text 8"/>
          <p:cNvSpPr/>
          <p:nvPr/>
        </p:nvSpPr>
        <p:spPr>
          <a:xfrm>
            <a:off x="2468880" y="3465576"/>
            <a:ext cx="420624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9C42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核心：泛化能力 (Generalization)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7B34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评估旨在识别模型是“掌握规律”还是“死记硬背”</a:t>
            </a:r>
            <a:endParaRPr lang="en-US" sz="1152" dirty="0"/>
          </a:p>
        </p:txBody>
      </p:sp>
      <p:sp>
        <p:nvSpPr>
          <p:cNvPr id="12" name="Shape 9"/>
          <p:cNvSpPr/>
          <p:nvPr/>
        </p:nvSpPr>
        <p:spPr>
          <a:xfrm>
            <a:off x="548640" y="4663440"/>
            <a:ext cx="54864" cy="274320"/>
          </a:xfrm>
          <a:custGeom>
            <a:avLst/>
            <a:gdLst/>
            <a:ahLst/>
            <a:cxnLst/>
            <a:rect l="l" t="t" r="r" b="b"/>
            <a:pathLst>
              <a:path w="54864" h="274320">
                <a:moveTo>
                  <a:pt x="0" y="0"/>
                </a:moveTo>
                <a:lnTo>
                  <a:pt x="54864" y="0"/>
                </a:lnTo>
                <a:lnTo>
                  <a:pt x="54864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4590288"/>
            <a:ext cx="786384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高训练精度并不代表模型优劣，必须在未见过的测试集上保持高精度才有意义。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2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分类问题的核心指标：混淆矩阵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8046720" cy="27432"/>
          </a:xfrm>
          <a:custGeom>
            <a:avLst/>
            <a:gdLst/>
            <a:ahLst/>
            <a:cxnLst/>
            <a:rect l="l" t="t" r="r" b="b"/>
            <a:pathLst>
              <a:path w="8046720" h="27432">
                <a:moveTo>
                  <a:pt x="0" y="0"/>
                </a:moveTo>
                <a:lnTo>
                  <a:pt x="8046720" y="0"/>
                </a:lnTo>
                <a:lnTo>
                  <a:pt x="804672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463040"/>
            <a:ext cx="34747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核心术语定义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548640" y="1920240"/>
            <a:ext cx="3474720" cy="12984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 (True Positive)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预测为正，实际为正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TN (True Negative)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预测为负，实际为负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 (False Positive)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预测为正，实际为负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FN (False Negative)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预测为负，实际为真</a:t>
            </a:r>
            <a:endParaRPr lang="en-US" sz="1152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463040"/>
          <a:ext cx="4206240" cy="1920240"/>
        </p:xfrm>
        <a:graphic>
          <a:graphicData uri="http://schemas.openxmlformats.org/drawingml/2006/table">
            <a:tbl>
              <a:tblPr/>
              <a:tblGrid>
                <a:gridCol w="1430122"/>
                <a:gridCol w="1388059"/>
                <a:gridCol w="1388059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 \ 预测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预测：正 (P)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预测：负 (N)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真实：正 (P)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TP (真阳性)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FN (假阴性)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真实：负 (N)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FP (假阳性)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TN (真阴性)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3749040"/>
            <a:ext cx="8046720" cy="9144"/>
          </a:xfrm>
          <a:custGeom>
            <a:avLst/>
            <a:gdLst/>
            <a:ahLst/>
            <a:cxnLst/>
            <a:rect l="l" t="t" r="r" b="b"/>
            <a:pathLst>
              <a:path w="8046720" h="9144">
                <a:moveTo>
                  <a:pt x="0" y="0"/>
                </a:moveTo>
                <a:lnTo>
                  <a:pt x="8046720" y="0"/>
                </a:lnTo>
                <a:lnTo>
                  <a:pt x="8046720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E2E8F0"/>
          </a:solidFill>
          <a:ln/>
        </p:spPr>
      </p:sp>
      <p:sp>
        <p:nvSpPr>
          <p:cNvPr id="9" name="Text 5"/>
          <p:cNvSpPr/>
          <p:nvPr/>
        </p:nvSpPr>
        <p:spPr>
          <a:xfrm>
            <a:off x="548640" y="3977640"/>
            <a:ext cx="804672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多维评估指标预览</a:t>
            </a:r>
            <a:endParaRPr lang="en-US" sz="1152" dirty="0"/>
          </a:p>
        </p:txBody>
      </p:sp>
      <p:sp>
        <p:nvSpPr>
          <p:cNvPr id="10" name="Text 6"/>
          <p:cNvSpPr/>
          <p:nvPr/>
        </p:nvSpPr>
        <p:spPr>
          <a:xfrm>
            <a:off x="548640" y="4434840"/>
            <a:ext cx="804672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 (Accuracy) | 精确率 (Precision) | 召回率 (Recall) | F1-Score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超越准确率：精确率与召回率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051560"/>
            <a:ext cx="3474720" cy="27432"/>
          </a:xfrm>
          <a:custGeom>
            <a:avLst/>
            <a:gdLst/>
            <a:ahLst/>
            <a:cxnLst/>
            <a:rect l="l" t="t" r="r" b="b"/>
            <a:pathLst>
              <a:path w="3474720" h="27432">
                <a:moveTo>
                  <a:pt x="0" y="0"/>
                </a:moveTo>
                <a:lnTo>
                  <a:pt x="3474720" y="0"/>
                </a:lnTo>
                <a:lnTo>
                  <a:pt x="347472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280160"/>
            <a:ext cx="39319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精确率 (Precision)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：预测为正的样本中，真实为正的比例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39319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召回率 (Recall)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：实际为正的样本中，被成功检出的比例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548640" y="2377440"/>
            <a:ext cx="39319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F1-Score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：精确率与召回率的调和平均数，综合考量指标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8" name="Formula 0"/>
              <p:cNvSpPr/>
              <p:nvPr/>
            </p:nvSpPr>
            <p:spPr>
              <a:xfrm>
                <a:off x="548640" y="2926080"/>
                <a:ext cx="274320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400"/>
                </a:pPr>
                <a14:m>
                  <m:oMathPara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F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1</m:t>
                          </m:r>
                        </m:sub>
                      </m:sSub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=2⋅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Precision⋅Recall</m:t>
                          </m:r>
                        </m:num>
                        <m:den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Precision+Recall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8" name="Formula 0"/>
              <p:cNvSpPr/>
              <p:nvPr/>
            </p:nvSpPr>
            <p:spPr>
              <a:xfrm>
                <a:off x="548640" y="2926080"/>
                <a:ext cx="274320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280160"/>
            <a:ext cx="3840480" cy="215798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754880" y="3749040"/>
            <a:ext cx="3840480" cy="914400"/>
          </a:xfrm>
          <a:custGeom>
            <a:avLst/>
            <a:gdLst/>
            <a:ahLst/>
            <a:cxnLst/>
            <a:rect l="l" t="t" r="r" b="b"/>
            <a:pathLst>
              <a:path w="3840480" h="914400">
                <a:moveTo>
                  <a:pt x="0" y="0"/>
                </a:moveTo>
                <a:lnTo>
                  <a:pt x="3840480" y="0"/>
                </a:lnTo>
                <a:lnTo>
                  <a:pt x="384048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3F4F6"/>
          </a:solidFill>
          <a:ln/>
        </p:spPr>
      </p:sp>
      <p:sp>
        <p:nvSpPr>
          <p:cNvPr id="11" name="Text 6"/>
          <p:cNvSpPr/>
          <p:nvPr/>
        </p:nvSpPr>
        <p:spPr>
          <a:xfrm>
            <a:off x="4937760" y="3886200"/>
            <a:ext cx="3474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案例：医疗诊断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权衡漏诊 (Recall) 与 误诊 (Precision) 的代价差异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5852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欠拟合与过拟合：训练的双重陷阱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548640" y="1005840"/>
            <a:ext cx="80467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分析模型表现不佳的两种典型根源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1097280" cy="36576"/>
          </a:xfrm>
          <a:custGeom>
            <a:avLst/>
            <a:gdLst/>
            <a:ahLst/>
            <a:cxnLst/>
            <a:rect l="l" t="t" r="r" b="b"/>
            <a:pathLst>
              <a:path w="1097280" h="36576">
                <a:moveTo>
                  <a:pt x="0" y="0"/>
                </a:moveTo>
                <a:lnTo>
                  <a:pt x="1097280" y="0"/>
                </a:lnTo>
                <a:lnTo>
                  <a:pt x="10972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1A73E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4389120" cy="2468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03520" y="1783080"/>
            <a:ext cx="329184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欠拟合 (Underfitting)</a:t>
            </a:r>
            <a:endParaRPr lang="en-US" sz="1152" dirty="0"/>
          </a:p>
        </p:txBody>
      </p:sp>
      <p:sp>
        <p:nvSpPr>
          <p:cNvPr id="8" name="Text 4"/>
          <p:cNvSpPr/>
          <p:nvPr/>
        </p:nvSpPr>
        <p:spPr>
          <a:xfrm>
            <a:off x="5303520" y="2194560"/>
            <a:ext cx="329184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模型太简单，没能学会训练数据中的规律。</a:t>
            </a:r>
            <a:endParaRPr lang="en-US" sz="1152" dirty="0"/>
          </a:p>
        </p:txBody>
      </p:sp>
      <p:sp>
        <p:nvSpPr>
          <p:cNvPr id="9" name="Text 5"/>
          <p:cNvSpPr/>
          <p:nvPr/>
        </p:nvSpPr>
        <p:spPr>
          <a:xfrm>
            <a:off x="5303520" y="2706624"/>
            <a:ext cx="329184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D930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过拟合 (Overfitting)</a:t>
            </a:r>
            <a:endParaRPr lang="en-US" sz="1152" dirty="0"/>
          </a:p>
        </p:txBody>
      </p:sp>
      <p:sp>
        <p:nvSpPr>
          <p:cNvPr id="10" name="Text 6"/>
          <p:cNvSpPr/>
          <p:nvPr/>
        </p:nvSpPr>
        <p:spPr>
          <a:xfrm>
            <a:off x="5303520" y="3118104"/>
            <a:ext cx="329184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模型太复杂，记住了训练数据中的随机噪声。</a:t>
            </a:r>
            <a:endParaRPr lang="en-US" sz="1152" dirty="0"/>
          </a:p>
        </p:txBody>
      </p:sp>
      <p:sp>
        <p:nvSpPr>
          <p:cNvPr id="11" name="Shape 7"/>
          <p:cNvSpPr/>
          <p:nvPr/>
        </p:nvSpPr>
        <p:spPr>
          <a:xfrm>
            <a:off x="5303520" y="3767328"/>
            <a:ext cx="3291840" cy="914400"/>
          </a:xfrm>
          <a:custGeom>
            <a:avLst/>
            <a:gdLst/>
            <a:ahLst/>
            <a:cxnLst/>
            <a:rect l="l" t="t" r="r" b="b"/>
            <a:pathLst>
              <a:path w="3291840" h="914400">
                <a:moveTo>
                  <a:pt x="0" y="0"/>
                </a:moveTo>
                <a:lnTo>
                  <a:pt x="3291840" y="0"/>
                </a:lnTo>
                <a:lnTo>
                  <a:pt x="329184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2" name="Text 8"/>
          <p:cNvSpPr/>
          <p:nvPr/>
        </p:nvSpPr>
        <p:spPr>
          <a:xfrm>
            <a:off x="5486400" y="3877056"/>
            <a:ext cx="292608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识别关键：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对比训练误差与验证误差的差距。</a:t>
            </a:r>
            <a:endParaRPr lang="en-US" sz="11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总结：科学的模型评估标准化流程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4114800" cy="36576"/>
          </a:xfrm>
          <a:custGeom>
            <a:avLst/>
            <a:gdLst/>
            <a:ahLst/>
            <a:cxnLst/>
            <a:rect l="l" t="t" r="r" b="b"/>
            <a:pathLst>
              <a:path w="4114800" h="36576">
                <a:moveTo>
                  <a:pt x="0" y="0"/>
                </a:moveTo>
                <a:lnTo>
                  <a:pt x="4114800" y="0"/>
                </a:lnTo>
                <a:lnTo>
                  <a:pt x="411480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0056B3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645920"/>
            <a:ext cx="2468880" cy="1920240"/>
          </a:xfrm>
          <a:custGeom>
            <a:avLst/>
            <a:gdLst/>
            <a:ahLst/>
            <a:cxnLst/>
            <a:rect l="l" t="t" r="r" b="b"/>
            <a:pathLst>
              <a:path w="2468880" h="1920240">
                <a:moveTo>
                  <a:pt x="0" y="0"/>
                </a:moveTo>
                <a:lnTo>
                  <a:pt x="2468880" y="0"/>
                </a:lnTo>
                <a:lnTo>
                  <a:pt x="2468880" y="1920240"/>
                </a:lnTo>
                <a:lnTo>
                  <a:pt x="0" y="192024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828800"/>
            <a:ext cx="228600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0056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第一步：数据划分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640080" y="2468880"/>
            <a:ext cx="228600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划分 Train / Val / Test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建立严谨的实验验证基准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3337560" y="1645920"/>
            <a:ext cx="2468880" cy="1920240"/>
          </a:xfrm>
          <a:custGeom>
            <a:avLst/>
            <a:gdLst/>
            <a:ahLst/>
            <a:cxnLst/>
            <a:rect l="l" t="t" r="r" b="b"/>
            <a:pathLst>
              <a:path w="2468880" h="1920240">
                <a:moveTo>
                  <a:pt x="0" y="0"/>
                </a:moveTo>
                <a:lnTo>
                  <a:pt x="2468880" y="0"/>
                </a:lnTo>
                <a:lnTo>
                  <a:pt x="2468880" y="1920240"/>
                </a:lnTo>
                <a:lnTo>
                  <a:pt x="0" y="192024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9" name="Text 6"/>
          <p:cNvSpPr/>
          <p:nvPr/>
        </p:nvSpPr>
        <p:spPr>
          <a:xfrm>
            <a:off x="3429000" y="1828800"/>
            <a:ext cx="228600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0056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第二步：多维监控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3429000" y="2468880"/>
            <a:ext cx="228600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拒绝迷信单一准确率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监控召回、F1及混淆矩阵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6126480" y="1645920"/>
            <a:ext cx="2468880" cy="1920240"/>
          </a:xfrm>
          <a:custGeom>
            <a:avLst/>
            <a:gdLst/>
            <a:ahLst/>
            <a:cxnLst/>
            <a:rect l="l" t="t" r="r" b="b"/>
            <a:pathLst>
              <a:path w="2468880" h="1920240">
                <a:moveTo>
                  <a:pt x="0" y="0"/>
                </a:moveTo>
                <a:lnTo>
                  <a:pt x="2468880" y="0"/>
                </a:lnTo>
                <a:lnTo>
                  <a:pt x="2468880" y="1920240"/>
                </a:lnTo>
                <a:lnTo>
                  <a:pt x="0" y="192024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0" y="1828800"/>
            <a:ext cx="228600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0056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第三步：诊断迭代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6217920" y="2468880"/>
            <a:ext cx="228600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偏差 - 方差深度分析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基于评估反馈进行模型调优</a:t>
            </a:r>
            <a:endParaRPr lang="en-US" sz="1152" dirty="0"/>
          </a:p>
        </p:txBody>
      </p:sp>
      <p:sp>
        <p:nvSpPr>
          <p:cNvPr id="14" name="Shape 11"/>
          <p:cNvSpPr/>
          <p:nvPr/>
        </p:nvSpPr>
        <p:spPr>
          <a:xfrm>
            <a:off x="3017520" y="2606040"/>
            <a:ext cx="320040" cy="0"/>
          </a:xfrm>
          <a:custGeom>
            <a:avLst/>
            <a:gdLst/>
            <a:ahLst/>
            <a:cxnLst/>
            <a:rect l="l" t="t" r="r" b="b"/>
            <a:pathLst>
              <a:path w="320040" h="0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27432">
            <a:solidFill>
              <a:srgbClr val="ADB5BD"/>
            </a:solidFill>
            <a:prstDash val="solid"/>
            <a:headEnd type="none"/>
            <a:tailEnd type="arrow"/>
          </a:ln>
        </p:spPr>
      </p:sp>
      <p:sp>
        <p:nvSpPr>
          <p:cNvPr id="15" name="Shape 12"/>
          <p:cNvSpPr/>
          <p:nvPr/>
        </p:nvSpPr>
        <p:spPr>
          <a:xfrm>
            <a:off x="5806440" y="2606040"/>
            <a:ext cx="320040" cy="0"/>
          </a:xfrm>
          <a:custGeom>
            <a:avLst/>
            <a:gdLst/>
            <a:ahLst/>
            <a:cxnLst/>
            <a:rect l="l" t="t" r="r" b="b"/>
            <a:pathLst>
              <a:path w="320040" h="0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27432">
            <a:solidFill>
              <a:srgbClr val="ADB5BD"/>
            </a:solidFill>
            <a:prstDash val="solid"/>
            <a:headEnd type="none"/>
            <a:tailEnd type="arrow"/>
          </a:ln>
        </p:spPr>
      </p:sp>
      <p:sp>
        <p:nvSpPr>
          <p:cNvPr id="16" name="Shape 13"/>
          <p:cNvSpPr/>
          <p:nvPr/>
        </p:nvSpPr>
        <p:spPr>
          <a:xfrm>
            <a:off x="548640" y="4023360"/>
            <a:ext cx="8046720" cy="731520"/>
          </a:xfrm>
          <a:custGeom>
            <a:avLst/>
            <a:gdLst/>
            <a:ahLst/>
            <a:cxnLst/>
            <a:rect l="l" t="t" r="r" b="b"/>
            <a:pathLst>
              <a:path w="8046720" h="731520">
                <a:moveTo>
                  <a:pt x="0" y="0"/>
                </a:moveTo>
                <a:lnTo>
                  <a:pt x="8046720" y="0"/>
                </a:lnTo>
                <a:lnTo>
                  <a:pt x="804672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E7F3FF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4123944"/>
            <a:ext cx="76809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004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核心寄语：好的模型是“评”出来的，而不仅仅是“练”出来的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2026-04-11T08:33:31Z</dcterms:created>
  <dcterms:modified xsi:type="dcterms:W3CDTF">2026-04-11T08:33:31Z</dcterms:modified>
</cp:coreProperties>
</file>