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监督学习</c:v>
                </c:pt>
                <c:pt idx="1">
                  <c:v>无监督学习</c:v>
                </c:pt>
                <c:pt idx="2">
                  <c:v>强化学习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5B9BD5"/>
            </a:solidFill>
            <a:ln w="25400" cap="flat">
              <a:solidFill>
                <a:srgbClr val="5B9B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9BD5"/>
              </a:solidFill>
              <a:ln w="9525" cap="flat">
                <a:solidFill>
                  <a:srgbClr val="5B9B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简单</c:v>
                  </c:pt>
                  <c:pt idx="1">
                    <c:v>适中</c:v>
                  </c:pt>
                  <c:pt idx="2">
                    <c:v>复杂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0.65</c:v>
                </c:pt>
                <c:pt idx="1">
                  <c:v>0.25</c:v>
                </c:pt>
                <c:pt idx="2">
                  <c:v>0.05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ED7D31"/>
            </a:solidFill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简单</c:v>
                  </c:pt>
                  <c:pt idx="1">
                    <c:v>适中</c:v>
                  </c:pt>
                  <c:pt idx="2">
                    <c:v>复杂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0.3</c:v>
                </c:pt>
                <c:pt idx="2">
                  <c:v>0.65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大家好，欢迎来到本期课堂，我是林老师。今天我们将一起探索现代科技的核心——机器学习。正如标题所言，这正是开启智能时代大门的关键钥匙。
那么，究竟什么是机器学习呢？简单来说，它让计算机能够从数据中自动学习规律，而不需要程序员为每一个任务编写死板的指令。这让计算机具备了类似人类的‘经验学习’能力。
其实机器学习已经无处不在。大家可以看看屏幕上的这些场景。
比如我们每天刷的短视频，背后的推荐系统就是根据你的偏好精准推送。还有智能助手，通过语音识别与我们自然交互。乐乐，你平时是不是也觉得推荐算法越来越懂你了？
通过本节课的学习，我希望大家能掌握机器学习的基础概念，了解它的算法分类，并熟悉整个模型的开发流程。让我们带着好奇心，开始这段智能之旅吧！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既然我们要开启智能时代的大门，首先得搞清楚，机器学习和我们过去几十年熟悉的传统编程到底有什么本质的区别。
在传统编程的逻辑里，人类是绝对的主导者。我们需要手把手地告诉计算机：这是输入的数据，这是处理数据的硬性规则，最后你按部就班给我一个输出结果。就像做数学题，公式是给定的。
但在机器学习中，逻辑发生了逆转。我们给机器看海量的数据和对应的结果，让它自己去“悟”出其中的规律。这种悟出来的规律，就是我们常说的“模型”。
大家看这张对比表。从逻辑来源到适用场景，两者的差异非常明显。传统编程适合逻辑简单、规则明确的任务；而处理图像识别、语言翻译这种难以用几条规则描述的复杂任务时，机器学习的灵活性就展现出来了。
总结一下，这里的核心转变是从“人工编写规则”到“机器自动发现规律”的范式跃迁。这不仅仅是工具的升级，更是我们解决问题思维方式的根本改变。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好，刚才我们通过小测验厘清了一些基本概念。接下来，我们要把视野拓宽，深入了解机器学习这棵“大树”上的三大主要分枝。
首先是监督学习，这也是目前应用最广的一类。它就像是有老师在旁边指导的学习过程：我们给计算机成千上万张打好标签的图片，比如告诉它“这是猫”、“那是狗”，通过这些已知答案的数据，模型学会了分类和预测。
而无监督学习则不同，它处理的是没有标签的数据。模型需要自己去挖掘数据背后的隐含结构，比如在数百万客户中，自动找出具有相似消费习惯的群体，这就是我们常说的“聚类”。
第三种是强化学习，它更像是一种试错机制。就像训练宠物或AlphaGo下棋一样，模型通过与环境交互，做对了给奖励，做错了给惩罚，最终学会在特定情境下达成最优目标的策略。
大家请看右侧的这个饼图，这是目前工业界的应用分布情况。
我们可以看到，监督学习占据了约70%的市场份额。这主要是因为它技术相对成熟，且能直接解决大多数有明确业务目标的场景。了解了这些宏观分类后，下一步我们要通过一个具体的模拟，带大家直观体验一下算法是如何运行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既然我们已经直观感受了算法拟合的过程，现在让我们把视野放大。在真实的工业界，一个机器学习模型从无到有，通常要经历这样一个标准的工作流。
第一步是数据预处理。在实际场景中，原始数据往往是“脏”的，可能存在缺失或错误。我们需要像大厨洗菜一样清洗它们，并提取出真正能反映问题的关键特征。
接下来是模型选择。没有万能的算法，只有最适合场景的方案。我们需要根据任务的类型，比如是分类还是回归，来匹配最合适的算法模型。
第三步是训练与评估。我们会将手中的数据划分为训练集和测试集，让模型在训练中学习规律，最后通过测试集这把“尺子”来验证它的预测性能到底如何。
最后一步，也是落地最关键的一环，即部署与监控。模型被应用到生产环境后，我们还要持续观察它在真实用户数据下的表现，不断进行迭代优化。
大家看这张全景图，整个过程其实是一个闭环。这四个阶段循环往复，才能让AI变得越来越“聪明”。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刚才大家在流程测验中表现得很棒。既然我们已经熟悉了机器学习的标准工作流，接下来就要深入探讨模型训练中最核心、也最让人头疼的两个挑战：过拟合与欠拟合。
首先看‘欠拟合’。这就像是一个还没学透知识的学生，考试时连基本的课本题都不会做。原因通常是我们的模型太简单了，无法捕捉到数据中真正的基本规律。
而‘过拟合’则是另一个极端。模型不仅学会了规律，还把训练数据中的杂质和噪音都‘死记硬背’了下来。虽然它在训练集上拿了满分，但一旦面对从未见过的新数据，表现就会一塌糊涂，也就是我们说的泛化能力差。
为了更直观地理解，请看这张经典的复杂度曲线图。随着模型变得越来越复杂，训练误差一直在稳步下降，但红色的测试误差在下降到某个临界点后，反而开始剧烈反弹，这个拐点就是过拟合的开始。
我们追求的并不是误差最小，而是训练和测试误差之间的一个理想平衡。这就引出了一个非常关键的概念。
寻找这个平衡点，‘验证集’是必不可少的。我们需要通过实时监控验证误差，在测试效果变差之前‘及时止损’，停止训练。这在实际开发中是提升模型性能最有效的手段之一。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完成了刚才精彩的实战构思，我们今天的学习之旅也接近尾声了。现在，让我们停下脚步，对全课的内容做个系统性的总结，并一起展望一下机器学习的未来。
在这一节课中，我们从机器学习的定义出发，理清了它与传统编程的本质区别。我们一起走过了数据的收集、模型的训练到评估的标准流程，并深入探讨了如何通过平衡偏差与方差来追求更好的泛化能力。这些核心概念，是你们进入智能时代最重要的基石。
但我也想提醒大家，算法并不是万能的。数据的质量往往决定了模型的上限，而模型在社会应用中的公平性、透明度等伦理问题，更需要我们时刻警惕。这不仅仅是技术问题，更是我们作为开发者的社会责任。
看看这张图片，机器学习就像一座灯塔，照亮了海量数据中的规律。但要驾驭这股力量，我们需要更广阔的视野。
最后，给大家留一个小任务：课后去探索一个你感兴趣的数据集，试着用我们今天学到的框架去思考它。记住我的寄语：保持批判性思维，永远不要停止对本质的探索。感谢大家的专注与参与，今天的课程到此结束，同学们，再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机器学习：开启智能时代的大门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70432"/>
            <a:ext cx="4389120" cy="36576"/>
          </a:xfrm>
          <a:custGeom>
            <a:avLst/>
            <a:gdLst/>
            <a:ahLst/>
            <a:cxnLst/>
            <a:rect l="l" t="t" r="r" b="b"/>
            <a:pathLst>
              <a:path w="4389120" h="36576">
                <a:moveTo>
                  <a:pt x="0" y="0"/>
                </a:moveTo>
                <a:lnTo>
                  <a:pt x="4389120" y="0"/>
                </a:lnTo>
                <a:lnTo>
                  <a:pt x="43891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1A73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71600"/>
            <a:ext cx="3931920" cy="2212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137160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什么是机器学习？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48640" y="1828800"/>
            <a:ext cx="38404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让计算机从数据中自动学习规律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无需显式编程即可执行特定任务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548640" y="2514600"/>
            <a:ext cx="38404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身边的智能应用</a:t>
            </a:r>
            <a:endParaRPr lang="en-US" sz="1152" dirty="0"/>
          </a:p>
        </p:txBody>
      </p:sp>
      <p:sp>
        <p:nvSpPr>
          <p:cNvPr id="9" name="Text 5"/>
          <p:cNvSpPr/>
          <p:nvPr/>
        </p:nvSpPr>
        <p:spPr>
          <a:xfrm>
            <a:off x="548640" y="2971800"/>
            <a:ext cx="384048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推荐系统：短视频与购物精准推送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语音识别：智能助手实现自然交互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914400"/>
          </a:xfrm>
          <a:custGeom>
            <a:avLst/>
            <a:gdLst/>
            <a:ahLst/>
            <a:cxnLst/>
            <a:rect l="l" t="t" r="r" b="b"/>
            <a:pathLst>
              <a:path w="8046720" h="914400">
                <a:moveTo>
                  <a:pt x="0" y="0"/>
                </a:moveTo>
                <a:lnTo>
                  <a:pt x="8046720" y="0"/>
                </a:lnTo>
                <a:lnTo>
                  <a:pt x="804672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1F3F4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4059936"/>
            <a:ext cx="76809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A7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本课学习目标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F63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掌握基础概念 | 了解算法分类 | 熟悉模型开发流程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传统编程 vs. 机器学习</a:t>
            </a:r>
            <a:endParaRPr lang="en-US" sz="1152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200400" cy="1801368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234440"/>
          <a:ext cx="4572000" cy="18288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传统编程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b="1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机器学习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逻辑来源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开发者编写规则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算法从数据学习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逻辑明确的任务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复杂模式识别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灵活性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需手动更新逻辑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8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自动随数据进化</a:t>
                      </a:r>
                      <a:endParaRPr lang="en-US" sz="1008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44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/>
          <p:nvPr/>
        </p:nvSpPr>
        <p:spPr>
          <a:xfrm>
            <a:off x="548640" y="3246120"/>
            <a:ext cx="3931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传统编程逻辑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548640" y="3611880"/>
                <a:ext cx="39319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m:rPr>
                          <m:nor/>
                        </m:rPr>
                        <m:t xml:space="preserve">输入数据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m:rPr>
                          <m:nor/>
                        </m:rPr>
                        <m:t xml:space="preserve">规则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⇒</m:t>
                      </m:r>
                      <m:r>
                        <m:rPr>
                          <m:nor/>
                        </m:rPr>
                        <m:t xml:space="preserve">输出结果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548640" y="3611880"/>
                <a:ext cx="39319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8" name="Text 2"/>
          <p:cNvSpPr/>
          <p:nvPr/>
        </p:nvSpPr>
        <p:spPr>
          <a:xfrm>
            <a:off x="4663440" y="3246120"/>
            <a:ext cx="39319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机器学习逻辑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1"/>
              <p:cNvSpPr/>
              <p:nvPr/>
            </p:nvSpPr>
            <p:spPr>
              <a:xfrm>
                <a:off x="4663440" y="3611880"/>
                <a:ext cx="39319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centerGroup"/>
                    </m:oMathParaPr>
                    <m:oMath>
                      <m:r>
                        <m:rPr>
                          <m:nor/>
                        </m:rPr>
                        <m:t xml:space="preserve">输入数据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+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m:rPr>
                          <m:nor/>
                        </m:rPr>
                        <m:t xml:space="preserve">输出结果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⇒</m:t>
                      </m:r>
                      <m:r>
                        <m:rPr>
                          <m:nor/>
                        </m:rPr>
                        <m:t xml:space="preserve">模型(规则)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1"/>
              <p:cNvSpPr/>
              <p:nvPr/>
            </p:nvSpPr>
            <p:spPr>
              <a:xfrm>
                <a:off x="4663440" y="3611880"/>
                <a:ext cx="39319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Shape 3"/>
          <p:cNvSpPr/>
          <p:nvPr/>
        </p:nvSpPr>
        <p:spPr>
          <a:xfrm>
            <a:off x="548640" y="438912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4"/>
          <p:cNvSpPr/>
          <p:nvPr/>
        </p:nvSpPr>
        <p:spPr>
          <a:xfrm>
            <a:off x="731520" y="443484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核心转变：从“人工编写规则”到“机器自动发现规律”的范式跃迁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机器学习的三大主要类型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43584"/>
            <a:ext cx="7863840" cy="27432"/>
          </a:xfrm>
          <a:custGeom>
            <a:avLst/>
            <a:gdLst/>
            <a:ahLst/>
            <a:cxnLst/>
            <a:rect l="l" t="t" r="r" b="b"/>
            <a:pathLst>
              <a:path w="7863840" h="27432">
                <a:moveTo>
                  <a:pt x="0" y="0"/>
                </a:moveTo>
                <a:lnTo>
                  <a:pt x="7863840" y="0"/>
                </a:lnTo>
                <a:lnTo>
                  <a:pt x="78638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3840480" cy="2157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1508760"/>
            <a:ext cx="3840480" cy="21214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监督学习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基于标签数据，如猫狗图片分类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无监督学习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发现隐含结构，如客户聚类分析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强化学习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通过奖惩机制学习策略，如AlphaGo</a:t>
            </a:r>
            <a:endParaRPr lang="en-US" sz="1152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3886200"/>
          <a:ext cx="347472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3"/>
          <p:cNvSpPr/>
          <p:nvPr/>
        </p:nvSpPr>
        <p:spPr>
          <a:xfrm>
            <a:off x="4206240" y="4041648"/>
            <a:ext cx="43891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工业界应用分布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：监督学习因技术成熟度和明确的业务价值，目前占据约70%的工业落地份额。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机器学习的标准工作流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B82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914400"/>
            <a:ext cx="4389120" cy="24688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3566160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0" y="0"/>
                </a:moveTo>
                <a:lnTo>
                  <a:pt x="1828800" y="0"/>
                </a:lnTo>
                <a:lnTo>
                  <a:pt x="18288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3685032"/>
            <a:ext cx="146304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数据预处理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清洗脏数据，提取特征</a:t>
            </a:r>
            <a:endParaRPr lang="en-US" sz="1152" dirty="0"/>
          </a:p>
        </p:txBody>
      </p:sp>
      <p:sp>
        <p:nvSpPr>
          <p:cNvPr id="8" name="Shape 4"/>
          <p:cNvSpPr/>
          <p:nvPr/>
        </p:nvSpPr>
        <p:spPr>
          <a:xfrm>
            <a:off x="2606040" y="3566160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0" y="0"/>
                </a:moveTo>
                <a:lnTo>
                  <a:pt x="1828800" y="0"/>
                </a:lnTo>
                <a:lnTo>
                  <a:pt x="18288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9" name="Text 5"/>
          <p:cNvSpPr/>
          <p:nvPr/>
        </p:nvSpPr>
        <p:spPr>
          <a:xfrm>
            <a:off x="2788920" y="3685032"/>
            <a:ext cx="146304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模型选择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匹配场景，选择算法</a:t>
            </a:r>
            <a:endParaRPr lang="en-US" sz="1152" dirty="0"/>
          </a:p>
        </p:txBody>
      </p:sp>
      <p:sp>
        <p:nvSpPr>
          <p:cNvPr id="10" name="Shape 6"/>
          <p:cNvSpPr/>
          <p:nvPr/>
        </p:nvSpPr>
        <p:spPr>
          <a:xfrm>
            <a:off x="4663440" y="3566160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0" y="0"/>
                </a:moveTo>
                <a:lnTo>
                  <a:pt x="1828800" y="0"/>
                </a:lnTo>
                <a:lnTo>
                  <a:pt x="18288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1" name="Text 7"/>
          <p:cNvSpPr/>
          <p:nvPr/>
        </p:nvSpPr>
        <p:spPr>
          <a:xfrm>
            <a:off x="4846320" y="3685032"/>
            <a:ext cx="146304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训练评估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划分集合，验证性能</a:t>
            </a:r>
            <a:endParaRPr lang="en-US" sz="1152" dirty="0"/>
          </a:p>
        </p:txBody>
      </p:sp>
      <p:sp>
        <p:nvSpPr>
          <p:cNvPr id="12" name="Shape 8"/>
          <p:cNvSpPr/>
          <p:nvPr/>
        </p:nvSpPr>
        <p:spPr>
          <a:xfrm>
            <a:off x="6720840" y="3566160"/>
            <a:ext cx="1828800" cy="822960"/>
          </a:xfrm>
          <a:custGeom>
            <a:avLst/>
            <a:gdLst/>
            <a:ahLst/>
            <a:cxnLst/>
            <a:rect l="l" t="t" r="r" b="b"/>
            <a:pathLst>
              <a:path w="1828800" h="822960">
                <a:moveTo>
                  <a:pt x="0" y="0"/>
                </a:moveTo>
                <a:lnTo>
                  <a:pt x="1828800" y="0"/>
                </a:lnTo>
                <a:lnTo>
                  <a:pt x="1828800" y="822960"/>
                </a:lnTo>
                <a:lnTo>
                  <a:pt x="0" y="822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3" name="Text 9"/>
          <p:cNvSpPr/>
          <p:nvPr/>
        </p:nvSpPr>
        <p:spPr>
          <a:xfrm>
            <a:off x="6903720" y="3685032"/>
            <a:ext cx="146304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部署监控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生产应用，持续观察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核心挑战：过拟合与欠拟合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7863840" cy="18288"/>
          </a:xfrm>
          <a:custGeom>
            <a:avLst/>
            <a:gdLst/>
            <a:ahLst/>
            <a:cxnLst/>
            <a:rect l="l" t="t" r="r" b="b"/>
            <a:pathLst>
              <a:path w="7863840" h="18288">
                <a:moveTo>
                  <a:pt x="0" y="0"/>
                </a:moveTo>
                <a:lnTo>
                  <a:pt x="7863840" y="0"/>
                </a:lnTo>
                <a:lnTo>
                  <a:pt x="786384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645920"/>
            <a:ext cx="23774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7F7F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欠拟合 (Underfitting)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模型过于简单，无法学习数据中的基本规律。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6217920" y="1645920"/>
            <a:ext cx="23774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 (Overfitting)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模型过于复杂，死记硬背训练数据，泛化能力差。</a:t>
            </a:r>
            <a:endParaRPr lang="en-US" sz="1152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280160"/>
            <a:ext cx="292608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063240"/>
            <a:ext cx="502920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训练误差与测试误差随模型复杂度变化的曲线</a:t>
            </a:r>
            <a:endParaRPr lang="en-US" sz="1152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914400" y="3474720"/>
          <a:ext cx="50292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5"/>
          <p:cNvSpPr/>
          <p:nvPr/>
        </p:nvSpPr>
        <p:spPr>
          <a:xfrm>
            <a:off x="6217920" y="3474720"/>
            <a:ext cx="2377440" cy="1188720"/>
          </a:xfrm>
          <a:custGeom>
            <a:avLst/>
            <a:gdLst/>
            <a:ahLst/>
            <a:cxnLst/>
            <a:rect l="l" t="t" r="r" b="b"/>
            <a:pathLst>
              <a:path w="2377440" h="1188720">
                <a:moveTo>
                  <a:pt x="0" y="0"/>
                </a:moveTo>
                <a:lnTo>
                  <a:pt x="2377440" y="0"/>
                </a:lnTo>
                <a:lnTo>
                  <a:pt x="237744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6"/>
          <p:cNvSpPr/>
          <p:nvPr/>
        </p:nvSpPr>
        <p:spPr>
          <a:xfrm>
            <a:off x="6400800" y="3685032"/>
            <a:ext cx="201168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寻找平衡点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验证集是关键。通过监控验证误差，在测试误差反弹前停止训练。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总结与未来展望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2377440" cy="27432"/>
          </a:xfrm>
          <a:custGeom>
            <a:avLst/>
            <a:gdLst/>
            <a:ahLst/>
            <a:cxnLst/>
            <a:rect l="l" t="t" r="r" b="b"/>
            <a:pathLst>
              <a:path w="2377440" h="27432">
                <a:moveTo>
                  <a:pt x="0" y="0"/>
                </a:moveTo>
                <a:lnTo>
                  <a:pt x="2377440" y="0"/>
                </a:lnTo>
                <a:lnTo>
                  <a:pt x="2377440" y="27432"/>
                </a:lnTo>
                <a:lnTo>
                  <a:pt x="0" y="27432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143000"/>
            <a:ext cx="3931920" cy="1554480"/>
          </a:xfrm>
          <a:custGeom>
            <a:avLst/>
            <a:gdLst/>
            <a:ahLst/>
            <a:cxnLst/>
            <a:rect l="l" t="t" r="r" b="b"/>
            <a:pathLst>
              <a:path w="3931920" h="1554480">
                <a:moveTo>
                  <a:pt x="0" y="0"/>
                </a:moveTo>
                <a:lnTo>
                  <a:pt x="3931920" y="0"/>
                </a:lnTo>
                <a:lnTo>
                  <a:pt x="393192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核心重点回顾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定义与分类：从基础到进阶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标准流程：数据、模型、评估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拟合与优化：追求泛化能力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3931920" cy="1554480"/>
          </a:xfrm>
          <a:custGeom>
            <a:avLst/>
            <a:gdLst/>
            <a:ahLst/>
            <a:cxnLst/>
            <a:rect l="l" t="t" r="r" b="b"/>
            <a:pathLst>
              <a:path w="3931920" h="1554480">
                <a:moveTo>
                  <a:pt x="0" y="0"/>
                </a:moveTo>
                <a:lnTo>
                  <a:pt x="3931920" y="0"/>
                </a:lnTo>
                <a:lnTo>
                  <a:pt x="393192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反思与局限性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算法不是万能的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数据质量决定模型上限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9A34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关注机器学习中的伦理问题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143000"/>
            <a:ext cx="3931920" cy="2212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3493008"/>
            <a:ext cx="3931920" cy="9418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课后行动：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探索一个感兴趣的数据集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寄语：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保持批判性思维，理解本质</a:t>
            </a:r>
            <a:endParaRPr lang="en-US" sz="1152" dirty="0"/>
          </a:p>
        </p:txBody>
      </p:sp>
      <p:sp>
        <p:nvSpPr>
          <p:cNvPr id="11" name="Shape 7"/>
          <p:cNvSpPr/>
          <p:nvPr/>
        </p:nvSpPr>
        <p:spPr>
          <a:xfrm>
            <a:off x="4663440" y="3429000"/>
            <a:ext cx="3931920" cy="9144"/>
          </a:xfrm>
          <a:custGeom>
            <a:avLst/>
            <a:gdLst/>
            <a:ahLst/>
            <a:cxnLst/>
            <a:rect l="l" t="t" r="r" b="b"/>
            <a:pathLst>
              <a:path w="3931920" h="9144">
                <a:moveTo>
                  <a:pt x="0" y="0"/>
                </a:moveTo>
                <a:lnTo>
                  <a:pt x="3931920" y="0"/>
                </a:lnTo>
                <a:lnTo>
                  <a:pt x="3931920" y="9144"/>
                </a:lnTo>
                <a:lnTo>
                  <a:pt x="0" y="9144"/>
                </a:lnTo>
                <a:close/>
              </a:path>
            </a:pathLst>
          </a:custGeom>
          <a:solidFill>
            <a:srgbClr val="E2E8F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2026-04-10T12:56:26Z</dcterms:created>
  <dcterms:modified xsi:type="dcterms:W3CDTF">2026-04-10T12:56:26Z</dcterms:modified>
</cp:coreProperties>
</file>