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大家好，我是林教授。欢迎来到人工智能数学基础的第一课。今天我们将一起揭开AI背后的面纱，探讨为什么数学是构建智能世界的灵魂。
很多人认为人工智能只是写写代码，但实际上，AI的底层是一套严密的数学架构。在这个逻辑中，算法本质上是复杂的数学模型，而我们将现实世界中的图像、语音等信号，抽象成高维空间中的‘张量’数据。只有这样，计算机才能理解万物。
为了支撑起如此庞大的AI大厦，我们需要关注这三大核心支柱：线性代数、微积分以及概率统计。
首先是线性代数，它就像是AI的语言，专门负责处理高维空间的数据表达与矩阵运算，让大规模并行计算成为可能。
接着是微积分，它是AI的优化引擎。通过梯度的求解，模型能够学会自我修正，自动寻找最优的权重参数。
最后是概率统计，它赋予了AI不确定性推理的能力。在面对模糊的现实信号时，正是统计学帮助模型在概率的森林中识别出真正的模式。接下来，我们就从线性代数开始，深入学习这些基石。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刚才我们概览了人工智能的数学全景。现在，让我们正式进入第一门关键语言：线性代数。在AI领域，如果说算法是灵魂，那么线性代数就是承载数据的躯干。
首先，我们必须理解数据是如何在计算机中“生存”的。这就是数据的多维表征。
这里存在一个明显的层级关系：标量是孤立的数值，向量则将多个数值组合成特征数组。比如我们要描述一个人的身高和体重，这就是一个2D向量。当这些向量进一步堆叠，就形成了矩阵和张量。
请观察这张图示，它直观地展示了数据从点到线、再到面的升维过程。这种多维化的表达，是神经网络处理图像、文本等复杂信号的前提。
那么，数据在网络中是如何“流动”并产生智能的呢？其核心机制就是矩阵乘法。
在神经网络的层与层之间，信息通过权重矩阵进行线性变换。这种变换的本质是特征空间的映射，它决定了模型如何从海量数据中提取出关键特征。理解了矩阵乘法，你就掌握了神经网络运行的数学真谛。下面，我们就通过空间想象，来看看向量具体是如何在空间中舞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刚才我们通过线性代数构建了AI处理数据的骨架，现在我们要赋予它进化的能力。微积分，就是人工智能在海量参数中寻找最优解的“优化引擎”。
首先，我们需要掌握导数的概念。在模型训练中，导数帮助我们刻画局部变化率，让我们清晰地看到函数在某一点的瞬时走向。
大家看这个极限定义，它本质上是在测量输入端的一个极其微小的扰动，会给输出端带来多大的反馈。
当我们的模型包含成千上万个参数时，单一的导数就扩展成了梯度。梯度是多元函数中上升速度最快的方向。
结合这张损失函数曲面图来看，梯度告诉我们哪里的坡度最陡峭。为了优化模型，我们会选择梯度的反方向，去寻找那个象征着误差最小值的“谷底”。
最后，是深度学习中至关重要的链式法则。它是反向传播算法的数学基石，允许我们将输出端的误差，穿过层层神经网络，精准地分摊到每一个参数上。
正如公式所示，通过复合函数求导，我们可以像剥洋葱一样，逐层计算出权重的调整方向。理解了这一点，你就理解了AI学习的核心逻辑。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链式法则推导了导数的传递，这为我们寻找最优解提供了方向。现在，我们要把这种数学能力转化为实际的行动——‘梯度下降’。如果说导数是指南针，那么梯度下降就是我们在多维误差空间中下山的艺术。
为了让大家更直观地理解这个过程，我们先看一段动画，观察模型是如何在损失函数的曲面上逐步逼近最小值的。
正如视频中展示的，参数更新的逻辑非常清晰：首先计算当前位置的梯度，确定误差下降最快的方向；然后按照设定的步长反向调整权重；最后不断迭代，直到达到我们满意的精度。
看这个公式，Theta_{t+1} 等于 Theta_t 减去步长乘以梯度。这个减号至关重要，它代表我们要逆着梯度增长的方向走，因为我们要找的是‘低谷’而非‘山峰’。
这里有一个核心提示：学习率也就是步长的选择非常考究。步长过大，我们可能会在山谷两侧反复横跳，产生震荡；而步长过小，则会导致收敛速度极慢。如何平衡这两者，是每一个算法工程师的必修课。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详细讨论了如何通过微积分进行参数优化，那是确定性下的寻找最优解。但现实世界的数据往往充满噪声，所以接下来我们要进入数学基石的第三块版图：概率与统计。这是AI在不确定性中进行逻辑推断的灵魂。
首先来看正态分布。它不仅是自然界的普遍规律，更是我们进行数据预处理和假设检验的基础。在深度学习中，我们经常假设权重初始化或噪声分布遵循这种‘钟形曲线’，因为它在数学处理上具有非常优美的性质。
再看这里的贝叶斯定理。它是机器学习中处理‘先验’与‘后验’的核心。简单来说，它让我们能够根据新证据动态地更新认知。当AI接收到新的传感器数据时，就是在利用这个公式不断修正对世界状态的判断。
最后是极大似然估计，也就是MLE。这是我们训练模型最常用的手段之一：既然我们已经观测到了这些数据，那么什么样的模型参数最能合理解释这些数据呢？通过最大化这个概率，我们就能从海量观测中反推出隐藏的规律。
概率论让我们在混乱的数据中找到了逻辑的支点。豆豆，你平时在生活中，有没有遇到过这种‘基于新证据更新看法’的例子？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好的，同学们。经过刚才的深入探讨和测评，我们已经走过了人工智能的三大数学基石。现在，让我们站在全局的高度，来看这些数学工具是如何最终汇聚成“智能”的。
正如我们在课程前半段学到的，线性代数不仅是运算的工具，它更是AI描述世界的语言，通过高维张量支撑起大规模并行计算。而微积分，则是模型自我演化的引擎，正如我们在第六章讨论的梯度下降，它驱动着模型不断优化。再加上概率统计处理不确定性的逻辑，这三者缺一不可。
请大家看这张总结表。从线性代数的特征提取，到微积分的参数优化，再到概率统计的逻辑推断，这些数学分支在神经网络、深度学习等典型场景中发挥着核心作用。正如思远同学在笔记中构建的思维导图一样，这些知识已经形成了一个完整的闭环。
看这张示意图，从基础数学到复杂的AI算法，其实是一个从抽象到具象的过程。掌握了这些底层逻辑，你就拥有了穿透算法迷雾、洞察AI本质的能力。
今天的课程到这里就圆满结束了。希望大家在今后的AI探索之路上，能够时刻保持对数学的敬畏与好奇。正如我们这节课的主题：从数学出发，方能抵达真正的智能。谢谢大家，我们下节课再见！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人工智能的数学基石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291840" cy="36576"/>
          </a:xfrm>
          <a:custGeom>
            <a:avLst/>
            <a:gdLst/>
            <a:ahLst/>
            <a:cxnLst/>
            <a:rect l="l" t="t" r="r" b="b"/>
            <a:pathLst>
              <a:path w="3291840" h="36576">
                <a:moveTo>
                  <a:pt x="0" y="0"/>
                </a:moveTo>
                <a:lnTo>
                  <a:pt x="3291840" y="0"/>
                </a:lnTo>
                <a:lnTo>
                  <a:pt x="32918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底层逻辑：严密的架构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算法本质上是复杂的数学模型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数据被抽象为高维空间的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现实信号转化为可计算的数学映射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80160"/>
            <a:ext cx="4023360" cy="22585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92608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三大核心支柱：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347472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6758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处理高维空间数据与矩阵运算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3291840" y="347472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1" name="Text 7"/>
          <p:cNvSpPr/>
          <p:nvPr/>
        </p:nvSpPr>
        <p:spPr>
          <a:xfrm>
            <a:off x="3474720" y="36758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微积分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模型权重的自动优化与梯度求解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6035040" y="347472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13" name="Text 9"/>
          <p:cNvSpPr/>
          <p:nvPr/>
        </p:nvSpPr>
        <p:spPr>
          <a:xfrm>
            <a:off x="6217920" y="367588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概率统计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不确定性推理与模式识别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线性代数：AI的语言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数据的多维表征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365760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标量 (Scalar)：单个数值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向量 (Vector)：1D 特征数组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矩阵 (Matrix)：2D 数据网格 (如图像)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张量 (Tensor)：nD 高维数据容器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3931920" cy="2212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56616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核心机制：矩阵乘法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731520" y="4114800"/>
            <a:ext cx="7863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线性变换：通过权重矩阵实现特征空间的映射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信息传递：神经网络层与层之间交互的数学本质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4160520"/>
            <a:ext cx="36576" cy="594360"/>
          </a:xfrm>
          <a:custGeom>
            <a:avLst/>
            <a:gdLst/>
            <a:ahLst/>
            <a:cxnLst/>
            <a:rect l="l" t="t" r="r" b="b"/>
            <a:pathLst>
              <a:path w="36576" h="594360">
                <a:moveTo>
                  <a:pt x="0" y="0"/>
                </a:moveTo>
                <a:lnTo>
                  <a:pt x="36576" y="0"/>
                </a:lnTo>
                <a:lnTo>
                  <a:pt x="36576" y="594360"/>
                </a:lnTo>
                <a:lnTo>
                  <a:pt x="0" y="594360"/>
                </a:ln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custGeom>
            <a:avLst/>
            <a:gdLst/>
            <a:ahLst/>
            <a:cxnLst/>
            <a:rect l="l" t="t" r="r" b="b"/>
            <a:pathLst>
              <a:path w="9144000" h="914400">
                <a:moveTo>
                  <a:pt x="0" y="0"/>
                </a:moveTo>
                <a:lnTo>
                  <a:pt x="9144000" y="0"/>
                </a:lnTo>
                <a:lnTo>
                  <a:pt x="914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微积分：AI的优化引擎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导数：刻画局部变化率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731520" y="1627632"/>
                <a:ext cx="32004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(x)=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lim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h→0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⁡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f(x+h)−f(x)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h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731520" y="1627632"/>
                <a:ext cx="32004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7" name="Text 3"/>
          <p:cNvSpPr/>
          <p:nvPr/>
        </p:nvSpPr>
        <p:spPr>
          <a:xfrm>
            <a:off x="54864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梯度：函数上升最快的方向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8" name="Formula 1"/>
              <p:cNvSpPr/>
              <p:nvPr/>
            </p:nvSpPr>
            <p:spPr>
              <a:xfrm>
                <a:off x="731520" y="2816352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∇f=</m:t>
                      </m:r>
                      <m:d>
                        <m:dPr>
                          <m:begChr m:val="("/>
                          <m:endChr m:val=")"/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∂f</m:t>
                              </m:r>
                            </m:num>
                            <m:den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</m:t>
                              </m:r>
                              <m:sSub>
                                <m:sSubPr>
                                  <m:ctrlP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 xml:space="preserve"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,…,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∂f</m:t>
                              </m:r>
                            </m:num>
                            <m:den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</m:t>
                              </m:r>
                              <m:sSub>
                                <m:sSubPr>
                                  <m:ctrlP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z="19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 xml:space="preserve">n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8" name="Formula 1"/>
              <p:cNvSpPr/>
              <p:nvPr/>
            </p:nvSpPr>
            <p:spPr>
              <a:xfrm>
                <a:off x="731520" y="2816352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9" name="Text 4"/>
          <p:cNvSpPr/>
          <p:nvPr/>
        </p:nvSpPr>
        <p:spPr>
          <a:xfrm>
            <a:off x="548640" y="361188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链式法则：反向传播的基石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0" name="Formula 2"/>
              <p:cNvSpPr/>
              <p:nvPr/>
            </p:nvSpPr>
            <p:spPr>
              <a:xfrm>
                <a:off x="731520" y="4096512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dy</m:t>
                          </m:r>
                        </m:num>
                        <m:den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dx</m:t>
                          </m:r>
                        </m:den>
                      </m:f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dy</m:t>
                          </m:r>
                        </m:num>
                        <m:den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du</m:t>
                          </m:r>
                        </m:den>
                      </m:f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du</m:t>
                          </m:r>
                        </m:num>
                        <m:den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dx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2"/>
              <p:cNvSpPr/>
              <p:nvPr/>
            </p:nvSpPr>
            <p:spPr>
              <a:xfrm>
                <a:off x="731520" y="4096512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3749040" cy="211226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846320" y="3474720"/>
            <a:ext cx="3749040" cy="749808"/>
          </a:xfrm>
          <a:custGeom>
            <a:avLst/>
            <a:gdLst/>
            <a:ahLst/>
            <a:cxnLst/>
            <a:rect l="l" t="t" r="r" b="b"/>
            <a:pathLst>
              <a:path w="3749040" h="749808">
                <a:moveTo>
                  <a:pt x="0" y="0"/>
                </a:moveTo>
                <a:lnTo>
                  <a:pt x="3749040" y="0"/>
                </a:lnTo>
                <a:lnTo>
                  <a:pt x="37490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3" name="Text 6"/>
          <p:cNvSpPr/>
          <p:nvPr/>
        </p:nvSpPr>
        <p:spPr>
          <a:xfrm>
            <a:off x="5029200" y="3639312"/>
            <a:ext cx="33832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损失函数曲面可视化：寻找全局最小值</a:t>
            </a:r>
            <a:endParaRPr lang="en-US" sz="1152" dirty="0"/>
          </a:p>
        </p:txBody>
      </p:sp>
      <p:sp>
        <p:nvSpPr>
          <p:cNvPr id="14" name="Shape 7"/>
          <p:cNvSpPr/>
          <p:nvPr/>
        </p:nvSpPr>
        <p:spPr>
          <a:xfrm>
            <a:off x="548640" y="896112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CBD5E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梯度下降：多维空间的寻优路径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194560" cy="36576"/>
          </a:xfrm>
          <a:custGeom>
            <a:avLst/>
            <a:gdLst/>
            <a:ahLst/>
            <a:cxnLst/>
            <a:rect l="l" t="t" r="r" b="b"/>
            <a:pathLst>
              <a:path w="2194560" h="36576">
                <a:moveTo>
                  <a:pt x="0" y="0"/>
                </a:moveTo>
                <a:lnTo>
                  <a:pt x="2194560" y="0"/>
                </a:lnTo>
                <a:lnTo>
                  <a:pt x="219456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5276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554480"/>
            <a:ext cx="4572000" cy="25694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1554480"/>
            <a:ext cx="3108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参数更新逻辑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5486400" y="2148840"/>
                <a:ext cx="31089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θ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t+1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θ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t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−η⋅∇J(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θ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t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5486400" y="2148840"/>
                <a:ext cx="31089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3"/>
          <p:cNvSpPr/>
          <p:nvPr/>
        </p:nvSpPr>
        <p:spPr>
          <a:xfrm>
            <a:off x="548640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计算梯度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：确定误差下降最快的方向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更新参数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：按步长反向调整权重值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迭代寻优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：直至损失函数达到极小值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349240" y="4297680"/>
            <a:ext cx="36576" cy="475488"/>
          </a:xfrm>
          <a:custGeom>
            <a:avLst/>
            <a:gdLst/>
            <a:ahLst/>
            <a:cxnLst/>
            <a:rect l="l" t="t" r="r" b="b"/>
            <a:pathLst>
              <a:path w="36576" h="475488">
                <a:moveTo>
                  <a:pt x="0" y="0"/>
                </a:moveTo>
                <a:lnTo>
                  <a:pt x="36576" y="0"/>
                </a:lnTo>
                <a:lnTo>
                  <a:pt x="36576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D35400"/>
          </a:solidFill>
          <a:ln/>
        </p:spPr>
      </p:sp>
      <p:sp>
        <p:nvSpPr>
          <p:cNvPr id="10" name="Text 5"/>
          <p:cNvSpPr/>
          <p:nvPr/>
        </p:nvSpPr>
        <p:spPr>
          <a:xfrm>
            <a:off x="5486400" y="4297680"/>
            <a:ext cx="3108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核心提示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：步长过大易震荡，过小则收敛慢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概率与统计：AI的逻辑推断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2743200" y="1097280"/>
            <a:ext cx="3657600" cy="27432"/>
          </a:xfrm>
          <a:custGeom>
            <a:avLst/>
            <a:gdLst/>
            <a:ahLst/>
            <a:cxnLst/>
            <a:rect l="l" t="t" r="r" b="b"/>
            <a:pathLst>
              <a:path w="3657600" h="27432">
                <a:moveTo>
                  <a:pt x="0" y="0"/>
                </a:moveTo>
                <a:lnTo>
                  <a:pt x="3657600" y="0"/>
                </a:lnTo>
                <a:lnTo>
                  <a:pt x="365760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4495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3657600" cy="2057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自然界与数据的普遍规律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AI数据预处理的基础假设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75488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贝叶斯定理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0"/>
              <p:cNvSpPr/>
              <p:nvPr/>
            </p:nvSpPr>
            <p:spPr>
              <a:xfrm>
                <a:off x="4754880" y="1828800"/>
                <a:ext cx="365760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P(A|B)=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P(B|A)P(A)</m:t>
                          </m:r>
                        </m:num>
                        <m:den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P(B)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0"/>
              <p:cNvSpPr/>
              <p:nvPr/>
            </p:nvSpPr>
            <p:spPr>
              <a:xfrm>
                <a:off x="4754880" y="1828800"/>
                <a:ext cx="365760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Text 5"/>
          <p:cNvSpPr/>
          <p:nvPr/>
        </p:nvSpPr>
        <p:spPr>
          <a:xfrm>
            <a:off x="47548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基于新证据动态更新认知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处理不确定性的逻辑利器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4754880" y="333756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极大似然估计 (MLE)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475488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从观测数据中反推模型参数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寻找使当前结果概率最大的解释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总结：从数学到智能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731520" cy="36576"/>
          </a:xfrm>
          <a:custGeom>
            <a:avLst/>
            <a:gdLst/>
            <a:ahLst/>
            <a:cxnLst/>
            <a:rect l="l" t="t" r="r" b="b"/>
            <a:pathLst>
              <a:path w="731520" h="36576">
                <a:moveTo>
                  <a:pt x="0" y="0"/>
                </a:moveTo>
                <a:lnTo>
                  <a:pt x="731520" y="0"/>
                </a:lnTo>
                <a:lnTo>
                  <a:pt x="7315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3200400" cy="1801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280160"/>
            <a:ext cx="45720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：高维张量运算支撑大规模并行计算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微积分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：链式法则驱动梯度下降与模型自动演化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概率统计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：分布建模量化随机性，处理不确定波动</a:t>
            </a:r>
            <a:endParaRPr lang="en-US" sz="1152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920240"/>
        </p:xfrm>
        <a:graphic>
          <a:graphicData uri="http://schemas.openxmlformats.org/drawingml/2006/table">
            <a:tbl>
              <a:tblPr/>
              <a:tblGrid>
                <a:gridCol w="1609344"/>
                <a:gridCol w="2816352"/>
                <a:gridCol w="3621024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数学分支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在AI中的作用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典型应用场景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线性代数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特征空间映射与变换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卷积神经网络、PCA降维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微积分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目标函数全局最优化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误差反向传播、学习率调度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概率统计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逻辑推断与不确定性度量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朴素贝叶斯、扩散生成模型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2026-04-10T12:32:46Z</dcterms:created>
  <dcterms:modified xsi:type="dcterms:W3CDTF">2026-04-10T12:32:46Z</dcterms:modified>
</cp:coreProperties>
</file>