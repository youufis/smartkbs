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金融</c:v>
                  </c:pt>
                  <c:pt idx="1">
                    <c:v>IT信息</c:v>
                  </c:pt>
                  <c:pt idx="2">
                    <c:v>制造业</c:v>
                  </c:pt>
                  <c:pt idx="3">
                    <c:v>医疗</c:v>
                  </c:pt>
                  <c:pt idx="4">
                    <c:v>教育</c:v>
                  </c:pt>
                  <c:pt idx="5">
                    <c:v>创意艺术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75</c:v>
                </c:pt>
                <c:pt idx="2">
                  <c:v>64</c:v>
                </c:pt>
                <c:pt idx="3">
                  <c:v>38</c:v>
                </c:pt>
                <c:pt idx="4">
                  <c:v>22</c:v>
                </c:pt>
                <c:pt idx="5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本期课程。我是林教授，今天我们将一起开启一段探索之旅，主题是《人工智能赋能下的未来与人才》。在接下来的时间里，我们将深入剖析AI技术是如何重塑我们生存的世界，以及身处其中的我们该如何应对。
首先，我们要认识到一个宏大的背景：人工智能正作为第四次工业革命的核心引擎，以前所未有的速度推动着社会的演进。它不再只是实验室里的算法，而是已经深入到了各行各业的毛细血管中。
请大家注意这里提到的‘关系重构’。AI的角色已经从单纯提升效率的工具，演变为生产力关系的深层变革者。这意味着人机协作将成为职场的新常态，我们的身份也正从单纯的执行者转变为AI的指挥官和协同者。
看这张图片所展示的意象，在技术赋能的未来，人类的智慧与机器的算力将实现深度融合。我们要学会的，不是去战胜AI，而是如何更好地驾驭它。
最后，这也是贯穿我们整门课程的核心课题：在技术重塑世界的过程中，我们该如何定位人类不可替代的核心价值？希望大家在学习的过程中，能不断思考这个问题，寻找属于自己的答案。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正如我们刚才提到的，为了找到人类在AI时代的定位，我们首先需要从源头理清它的演进脉络。人工智能并不是一夜之间诞生的，它经历了一个从量变到质变的漫长过程。
最初是‘计算智能’阶段。这一时期的AI像是一个超级计算器，拥有海量的存储和高速运算能力。比如早年的‘深蓝’战胜国际象棋大师，靠的就是穷举式的计算。此时的它，虽然聪明，但还没办法‘看懂’或‘听懂’世界。
接着，我们进入了‘感知智能’时代。这也是过去十年大家最熟悉的，比如人脸识别扫码、语音助手或是机器翻译。AI开始有了眼睛和耳朵，能识别出我们说了什么、看懂了什么图，并进行简单的交互。
而现在，随着生成式AI的爆发，我们正处于‘认知智能’的跃迁中。AI不再仅仅是识别，它开始展现出理解逻辑、进行复杂推理、甚至自主创作的能力。这种‘生成’的力量，彻底改变了规则。
步入大模型时代，生成式AI呈现出三个非常鲜明的特征，这直接决定了它为什么能成为职场人的‘超级助手’。
首先是‘通用性’。以前的AI往往是‘专才’，下棋的不会翻译，识图的不会写代码。但现在的大模型是‘全才’，一个模型就能适配无数下游任务，跨行业的能力极强。
其次是‘涌现能力’。当数据规模达到一定量级，模型会突然展现出设计者并没预设过的逻辑推理能力。这种‘量变引起质变’的特性，让它开始具备处理复杂问题的可能性。
最后，也是交互门槛的大幅降低。我们不再需要学复杂的代码，只要用自然语言下达指令，就能让AI干活。这种人人都能上手的特性，预示着AI协同将成为基本职业素养。接下来，我们将探讨这种技术跃迁对具体岗位的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既然AI协同已经成为未来的基本职业素养，那么它究竟是如何冲击并重塑我们的职场版图的呢？这一页，我们要深入探讨那些正在消失的岗位，以及随之而来的、前所未有的机遇。
请看这张基于未来5年劳动力市场风险预测模型生成的对比图。它揭示了一个残酷但现实的趋势：不同行业受AI影响的程度呈现出剧烈的两极分化。
在高风险领域，自动化正在加速替代重复性的体力劳动，甚至包括基础的脑力计算。凡是遵循标准化、逻辑推导且数据密集的环节，AI的表现都已经开始超越人类。
但大家不必焦虑，旧岗位的消亡往往是新物种诞生的养料。你们看，提示词工程师、AI伦理审核员这些职位于三年前根本不存在。人机协作正在催生全新的专家领域。
最终我们要明白，无论工具如何进化，复杂的决策力、情感的共鸣以及战略性的直觉，始终是人类不可替代的核心护城河。下面，我想听听大家的看法。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刚才我们通过复盘，梳理了AI冲击职场的现状。那么，面对这种冲击，人类的“护城河”究竟在哪里呢？这就是我们要进入的核心课题：探讨那些在AI时代反而变得更加稀缺且不可替代的核心价值。
在深入讲解具体素质之前，请大家先看一段视频。这段视频展示了在极端复杂的社交场景下，人类是如何通过细微的情感观察做出决策的，请用心感受这种“不可言传”的连接感。
正如视频所呈现的，第一道护城河就是“复杂同理心与情感连接的深度”。AI可以精准识别情绪标签，但它没有生命经验，无法实现灵魂深处的共鸣。这种基于真实体验的同理心，是构建深层信任的基石。
第二项核心价值是“伦理判断与跨领域综合决策”。机器擅长在已知规则下追求效率最优，但在面对两难的道德困境，或者需要打破学科边界进行价值权衡时，人类的直觉和价值观导向是无法被算法取代的。
最后也是最关键的一点：在AI时代，提出问题的能力已经远胜于寻找答案。当标准答案的获取成本趋近于零，谁能敏锐地发现痛点、定义真问题，谁就掌握了协作的主导权。我们要学会做那个“出题人”。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基于我们刚才讨论的“出题人”思维，现在我们要更系统地拆解一下未来人才的核心素养模型。我将其定义为“人才素养3.0”，其核心正是与人工智能深度协作的能力。
请看这张对比表。在过去的1.0和2.0时代，我们更看重个体的知识储备和单一工具的熟练度。但在AI时代，人才的分水岭在于思维模式：你是把AI当成百科全书，还是把它当成协作者？
这里我们要重点拆解“AI素养”。它包含三个维度：首先是理解技术原理，不被黑盒迷惑；其次是评估产出质量，拥有批判性思维；最后才是深度的业务协作。正如我们之前提到的，评估能力在答案廉价的时代尤为珍贵。
除了硬技能，软性的“动态适配能力”则是你的护城河。面对每三个月就可能迭代的技术，保持终身学习的意识和敏捷的知识更新速度，才能实现持续的自我进化，不被时代抛下。
诗雨，你一直很关注素质教育的构建。在你看来，在AI素养的这三个维度中，哪一个对你现在的学习挑战最大？我们来听听大家的看法。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诗雨提到了跨学科学习的挑战，这确实非常关键。为了应对这些挑战，我们需要将之前讨论的AI素养落实到具体的行动中。接下来，我们就来探讨如何通过“终身成长”的视角，建立一套属于你自己的个人AI工作流。
第一步是构建“数字外脑”。在信息爆炸的今天，靠大脑记忆是不够的。我们要学会利用AI来辅助知识捕捉，让它帮你完成自动化分类，甚至通过与AI的对话来深度内化知识。这不仅仅是存储信息，更是将信息转化为智慧的过程。
第二步，我们要完成身份的转型，从“产出执行者”变为“产出导演”。这意味着我们要从具体的琐碎执行中抽身，转向目标定义和逻辑构架。你要做的是统筹并优化AI的生成结果，让AI成为你手下最高效的员工，而你则是把控方向的导演。
第三，保持持续的好奇心。AI技术的迭代非常迅速，我们不能止步于目前掌握的几个工具。要敢于在技术的更迭中不断探索工具的边界，保持敏捷的成长思维，这种自我进化的能力才是最长久的竞争力。
总结来说，建立AI工作流的核心价值，是为了在AI时代进一步强化我们作为人类不可替代的洞察力。工具越是高效，我们对结果的判断和对深层意义的挖掘就越显得珍贵。子涵，作为我们班的实践派，你目前在日常学习中，有没有尝试建立过类似的‘数字外脑’或AI工作流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经过刚才精彩的方案设计实战，我们的课程也即将画上圆满的句号。现在，让我们对整场“AI时代下的职业重塑”进行最后的总结与升华。
这节课的核心命题始终围绕着如何在不确定中寻找确定性。面对AI技术的指数级增长，我们可能会感到迷茫，但请记住接下来的这三点核心逻辑。
首先是核心洞察：技术永远只是杠杆，而我们作为人类的智慧，是撬动这个时代的唯一支点。就像我们在第6页讨论的护城河一样，AI可以模仿逻辑，但无法取代人类的同理心与复杂决策。
其次，我们要建立积极的未来心态。正如晓月助教刚才展示的那些协作工具，AI不是我们的对手，而是进化的伙伴。拒绝恐惧，坚持与技术共演化，才能在职业重塑中保持领先。
最后，请把目光投向行动。结合我们在第8页提到的个人AI工作流，从今天开始，从小处着手，即刻构建属于你自己的AI竞争力。只有不断实践，才能将学到的知识转化为应对变化的免疫力。
同学们，AI时代已经呼啸而至。希望大家都能带走这份理性与勇气，在时代的浪潮中稳步前行。今天的课程到此结束，祝愿大家都能书写出精彩的智能时代新篇章！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人工智能赋能下的未来与人才：课程导引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691640"/>
            <a:ext cx="36576" cy="1572768"/>
          </a:xfrm>
          <a:custGeom>
            <a:avLst/>
            <a:gdLst/>
            <a:ahLst/>
            <a:cxnLst/>
            <a:rect l="l" t="t" r="r" b="b"/>
            <a:pathLst>
              <a:path w="36576" h="1572768">
                <a:moveTo>
                  <a:pt x="0" y="0"/>
                </a:moveTo>
                <a:lnTo>
                  <a:pt x="36576" y="0"/>
                </a:lnTo>
                <a:lnTo>
                  <a:pt x="36576" y="1572768"/>
                </a:lnTo>
                <a:lnTo>
                  <a:pt x="0" y="1572768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91640"/>
            <a:ext cx="384048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变革引擎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：人工智能驱动的第四次工业革命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关系重构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：从单纯效率工具到生产力的深层变革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协作常态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：构建人机共生的未来职场新生态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91640"/>
            <a:ext cx="3749040" cy="21122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114800"/>
            <a:ext cx="8046720" cy="585216"/>
          </a:xfrm>
          <a:custGeom>
            <a:avLst/>
            <a:gdLst/>
            <a:ahLst/>
            <a:cxnLst/>
            <a:rect l="l" t="t" r="r" b="b"/>
            <a:pathLst>
              <a:path w="8046720" h="585216">
                <a:moveTo>
                  <a:pt x="0" y="0"/>
                </a:moveTo>
                <a:lnTo>
                  <a:pt x="8046720" y="0"/>
                </a:lnTo>
                <a:lnTo>
                  <a:pt x="8046720" y="585216"/>
                </a:lnTo>
                <a:lnTo>
                  <a:pt x="0" y="585216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4197096"/>
            <a:ext cx="7680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核心思考：在技术重塑世界的过程中，如何定位人类不可替代的核心价值？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AI演进史：从计算智能到生成式AI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7863840" cy="18288"/>
          </a:xfrm>
          <a:custGeom>
            <a:avLst/>
            <a:gdLst/>
            <a:ahLst/>
            <a:cxnLst/>
            <a:rect l="l" t="t" r="r" b="b"/>
            <a:pathLst>
              <a:path w="7863840" h="18288">
                <a:moveTo>
                  <a:pt x="0" y="0"/>
                </a:moveTo>
                <a:lnTo>
                  <a:pt x="7863840" y="0"/>
                </a:lnTo>
                <a:lnTo>
                  <a:pt x="786384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CBD5E1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2377440" cy="1280160"/>
          </a:xfrm>
          <a:custGeom>
            <a:avLst/>
            <a:gdLst/>
            <a:ahLst/>
            <a:cxnLst/>
            <a:rect l="l" t="t" r="r" b="b"/>
            <a:pathLst>
              <a:path w="2377440" h="1280160">
                <a:moveTo>
                  <a:pt x="0" y="0"/>
                </a:moveTo>
                <a:lnTo>
                  <a:pt x="2377440" y="0"/>
                </a:lnTo>
                <a:lnTo>
                  <a:pt x="237744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847088"/>
            <a:ext cx="20116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计算智能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存储与高速运算能力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2971800" y="219456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7432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3383280" y="1554480"/>
            <a:ext cx="2377440" cy="1280160"/>
          </a:xfrm>
          <a:custGeom>
            <a:avLst/>
            <a:gdLst/>
            <a:ahLst/>
            <a:cxnLst/>
            <a:rect l="l" t="t" r="r" b="b"/>
            <a:pathLst>
              <a:path w="2377440" h="1280160">
                <a:moveTo>
                  <a:pt x="0" y="0"/>
                </a:moveTo>
                <a:lnTo>
                  <a:pt x="2377440" y="0"/>
                </a:lnTo>
                <a:lnTo>
                  <a:pt x="237744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9" name="Text 6"/>
          <p:cNvSpPr/>
          <p:nvPr/>
        </p:nvSpPr>
        <p:spPr>
          <a:xfrm>
            <a:off x="3566160" y="1847088"/>
            <a:ext cx="20116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感知智能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视觉、语音识别与交互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5806440" y="219456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7432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6217920" y="1554480"/>
            <a:ext cx="2377440" cy="1280160"/>
          </a:xfrm>
          <a:custGeom>
            <a:avLst/>
            <a:gdLst/>
            <a:ahLst/>
            <a:cxnLst/>
            <a:rect l="l" t="t" r="r" b="b"/>
            <a:pathLst>
              <a:path w="2377440" h="1280160">
                <a:moveTo>
                  <a:pt x="0" y="0"/>
                </a:moveTo>
                <a:lnTo>
                  <a:pt x="2377440" y="0"/>
                </a:lnTo>
                <a:lnTo>
                  <a:pt x="237744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847088"/>
            <a:ext cx="20116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认知智能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理解、推理与自主创作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生成式AI：大模型时代的特征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2560320" cy="1188720"/>
          </a:xfrm>
          <a:custGeom>
            <a:avLst/>
            <a:gdLst/>
            <a:ahLst/>
            <a:cxnLst/>
            <a:rect l="l" t="t" r="r" b="b"/>
            <a:pathLst>
              <a:path w="2560320" h="1188720">
                <a:moveTo>
                  <a:pt x="0" y="0"/>
                </a:moveTo>
                <a:lnTo>
                  <a:pt x="2560320" y="0"/>
                </a:lnTo>
                <a:lnTo>
                  <a:pt x="25603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767328"/>
            <a:ext cx="237744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通用性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从“专才”向“全才”转变，单模型适配多种下游任务。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291840" y="3657600"/>
            <a:ext cx="2560320" cy="1188720"/>
          </a:xfrm>
          <a:custGeom>
            <a:avLst/>
            <a:gdLst/>
            <a:ahLst/>
            <a:cxnLst/>
            <a:rect l="l" t="t" r="r" b="b"/>
            <a:pathLst>
              <a:path w="2560320" h="1188720">
                <a:moveTo>
                  <a:pt x="0" y="0"/>
                </a:moveTo>
                <a:lnTo>
                  <a:pt x="2560320" y="0"/>
                </a:lnTo>
                <a:lnTo>
                  <a:pt x="25603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3383280" y="3767328"/>
            <a:ext cx="237744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涌现能力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规模效应产生质变，具备逻辑推理等意想不到的能力。</a:t>
            </a:r>
            <a:endParaRPr lang="en-US" sz="1152" dirty="0"/>
          </a:p>
        </p:txBody>
      </p:sp>
      <p:sp>
        <p:nvSpPr>
          <p:cNvPr id="18" name="Shape 15"/>
          <p:cNvSpPr/>
          <p:nvPr/>
        </p:nvSpPr>
        <p:spPr>
          <a:xfrm>
            <a:off x="6035040" y="3657600"/>
            <a:ext cx="2560320" cy="1188720"/>
          </a:xfrm>
          <a:custGeom>
            <a:avLst/>
            <a:gdLst/>
            <a:ahLst/>
            <a:cxnLst/>
            <a:rect l="l" t="t" r="r" b="b"/>
            <a:pathLst>
              <a:path w="2560320" h="1188720">
                <a:moveTo>
                  <a:pt x="0" y="0"/>
                </a:moveTo>
                <a:lnTo>
                  <a:pt x="2560320" y="0"/>
                </a:lnTo>
                <a:lnTo>
                  <a:pt x="25603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3767328"/>
            <a:ext cx="237744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交互门槛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通过自然语言直接下令，AI成为真正的人类助手。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职场重塑：消失的岗位与新生的机遇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977640"/>
            <a:ext cx="39319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数据来源：未来5年劳动力市场风险预测模型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937760" y="1554480"/>
            <a:ext cx="365760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E11D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高风险领域：自动化替代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重复性体力劳动与基础脑力计算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逻辑推导与标准化数据处理环节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937760" y="2606040"/>
            <a:ext cx="365760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新兴机遇：人机协作岗位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提示词工程师、AI伦理审核员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跨领域协作专家与人机交互设计</a:t>
            </a:r>
            <a:endParaRPr lang="en-US" sz="1152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703320"/>
            <a:ext cx="1645920" cy="9235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75120" y="3703320"/>
            <a:ext cx="192024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复杂决策、情感共鸣与战略直觉是人类不可替代的核心竞争力。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人类的护城河：不可替代的核心价值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5120640" cy="36576"/>
          </a:xfrm>
          <a:custGeom>
            <a:avLst/>
            <a:gdLst/>
            <a:ahLst/>
            <a:cxnLst/>
            <a:rect l="l" t="t" r="r" b="b"/>
            <a:pathLst>
              <a:path w="5120640" h="36576">
                <a:moveTo>
                  <a:pt x="0" y="0"/>
                </a:moveTo>
                <a:lnTo>
                  <a:pt x="5120640" y="0"/>
                </a:lnTo>
                <a:lnTo>
                  <a:pt x="51206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645920"/>
            <a:ext cx="4389120" cy="2468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20640" y="1645920"/>
            <a:ext cx="3474720" cy="3017520"/>
          </a:xfrm>
          <a:custGeom>
            <a:avLst/>
            <a:gdLst/>
            <a:ahLst/>
            <a:cxnLst/>
            <a:rect l="l" t="t" r="r" b="b"/>
            <a:pathLst>
              <a:path w="3474720" h="3017520">
                <a:moveTo>
                  <a:pt x="0" y="0"/>
                </a:moveTo>
                <a:lnTo>
                  <a:pt x="3474720" y="0"/>
                </a:lnTo>
                <a:lnTo>
                  <a:pt x="34747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3"/>
          <p:cNvSpPr/>
          <p:nvPr/>
        </p:nvSpPr>
        <p:spPr>
          <a:xfrm>
            <a:off x="5303520" y="1828800"/>
            <a:ext cx="3108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AI时代的稀缺素质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5303520" y="2468880"/>
            <a:ext cx="3108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复杂同理心与情感连接深度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303520" y="3017520"/>
            <a:ext cx="3108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伦理判断与跨领域综合决策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5303520" y="3566160"/>
            <a:ext cx="3108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提出问题的能力胜过寻找答案</a:t>
            </a:r>
            <a:endParaRPr lang="en-US" sz="1152" dirty="0"/>
          </a:p>
        </p:txBody>
      </p:sp>
      <p:sp>
        <p:nvSpPr>
          <p:cNvPr id="11" name="Text 7"/>
          <p:cNvSpPr/>
          <p:nvPr/>
        </p:nvSpPr>
        <p:spPr>
          <a:xfrm>
            <a:off x="5303520" y="4160520"/>
            <a:ext cx="3108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回归本质：重塑人机协作价值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人才素养3.0：AI协同力的培养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1828800"/>
        </p:xfrm>
        <a:graphic>
          <a:graphicData uri="http://schemas.openxmlformats.org/drawingml/2006/table">
            <a:tbl>
              <a:tblPr/>
              <a:tblGrid>
                <a:gridCol w="1609344"/>
                <a:gridCol w="3218688"/>
                <a:gridCol w="321868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传统人才 (1.0/2.0)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AI时代人才 (3.0)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知识储备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深度垂直 / 单一领域积累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跨界链接 / 系统整合能力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工具应用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特定专业软件熟练度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Prompt工程 / 人机协同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思维模式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解决已知问题 / 机械执行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定义问题 / 批判性思维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566160"/>
            <a:ext cx="3931920" cy="1188720"/>
          </a:xfrm>
          <a:custGeom>
            <a:avLst/>
            <a:gdLst/>
            <a:ahLst/>
            <a:cxnLst/>
            <a:rect l="l" t="t" r="r" b="b"/>
            <a:pathLst>
              <a:path w="3931920" h="1188720">
                <a:moveTo>
                  <a:pt x="0" y="0"/>
                </a:moveTo>
                <a:lnTo>
                  <a:pt x="3931920" y="0"/>
                </a:lnTo>
                <a:lnTo>
                  <a:pt x="39319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381304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素养 (AI Literacy)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理解技术原理 · 评估产出质量 · 深度协作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4663440" y="3566160"/>
            <a:ext cx="3931920" cy="1188720"/>
          </a:xfrm>
          <a:custGeom>
            <a:avLst/>
            <a:gdLst/>
            <a:ahLst/>
            <a:cxnLst/>
            <a:rect l="l" t="t" r="r" b="b"/>
            <a:pathLst>
              <a:path w="3931920" h="1188720">
                <a:moveTo>
                  <a:pt x="0" y="0"/>
                </a:moveTo>
                <a:lnTo>
                  <a:pt x="3931920" y="0"/>
                </a:lnTo>
                <a:lnTo>
                  <a:pt x="39319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9" name="Text 5"/>
          <p:cNvSpPr/>
          <p:nvPr/>
        </p:nvSpPr>
        <p:spPr>
          <a:xfrm>
            <a:off x="4846320" y="381304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动态适配能力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终身学习意识 · 敏捷知识更新 · 持续自我进化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终身成长：建立你的个人AI工作流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645920"/>
            <a:ext cx="2560320" cy="2743200"/>
          </a:xfrm>
          <a:custGeom>
            <a:avLst/>
            <a:gdLst/>
            <a:ahLst/>
            <a:cxnLst/>
            <a:rect l="l" t="t" r="r" b="b"/>
            <a:pathLst>
              <a:path w="2560320" h="2743200">
                <a:moveTo>
                  <a:pt x="0" y="0"/>
                </a:moveTo>
                <a:lnTo>
                  <a:pt x="2560320" y="0"/>
                </a:lnTo>
                <a:lnTo>
                  <a:pt x="256032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291840" y="1645920"/>
            <a:ext cx="2560320" cy="2743200"/>
          </a:xfrm>
          <a:custGeom>
            <a:avLst/>
            <a:gdLst/>
            <a:ahLst/>
            <a:cxnLst/>
            <a:rect l="l" t="t" r="r" b="b"/>
            <a:pathLst>
              <a:path w="2560320" h="2743200">
                <a:moveTo>
                  <a:pt x="0" y="0"/>
                </a:moveTo>
                <a:lnTo>
                  <a:pt x="2560320" y="0"/>
                </a:lnTo>
                <a:lnTo>
                  <a:pt x="256032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1645920"/>
            <a:ext cx="2560320" cy="2743200"/>
          </a:xfrm>
          <a:custGeom>
            <a:avLst/>
            <a:gdLst/>
            <a:ahLst/>
            <a:cxnLst/>
            <a:rect l="l" t="t" r="r" b="b"/>
            <a:pathLst>
              <a:path w="2560320" h="2743200">
                <a:moveTo>
                  <a:pt x="0" y="0"/>
                </a:moveTo>
                <a:lnTo>
                  <a:pt x="2560320" y="0"/>
                </a:lnTo>
                <a:lnTo>
                  <a:pt x="256032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645920" y="19202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65760" y="182880"/>
                </a:move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ubicBezTo>
                  <a:pt x="283814" y="0"/>
                  <a:pt x="365760" y="81946"/>
                  <a:pt x="365760" y="18288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9202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65760" y="182880"/>
                </a:move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ubicBezTo>
                  <a:pt x="283814" y="0"/>
                  <a:pt x="365760" y="81946"/>
                  <a:pt x="365760" y="18288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0" y="19202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65760" y="182880"/>
                </a:move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ubicBezTo>
                  <a:pt x="283814" y="0"/>
                  <a:pt x="365760" y="81946"/>
                  <a:pt x="365760" y="182880"/>
                </a:cubicBez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46888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构建数字外脑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731520" y="3108960"/>
            <a:ext cx="219456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利用AI实现知识捕捉、自动化分类与深度内化。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3474720" y="246888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转型产出导演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3474720" y="3108960"/>
            <a:ext cx="219456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从具体执行转向目标定义，统筹并优化AI生成结果。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6217920" y="246888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持续好奇进化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6217920" y="3108960"/>
            <a:ext cx="219456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在技术迭代中探索工具边界，保持敏捷的成长思维。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548640" y="4572000"/>
            <a:ext cx="8046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核心价值：在AI时代强化人类不可替代的洞察力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在不确定中寻找确定性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3657600" y="1280160"/>
            <a:ext cx="1828800" cy="27432"/>
          </a:xfrm>
          <a:custGeom>
            <a:avLst/>
            <a:gdLst/>
            <a:ahLst/>
            <a:cxnLst/>
            <a:rect l="l" t="t" r="r" b="b"/>
            <a:pathLst>
              <a:path w="1828800" h="27432">
                <a:moveTo>
                  <a:pt x="0" y="0"/>
                </a:moveTo>
                <a:lnTo>
                  <a:pt x="1828800" y="0"/>
                </a:lnTo>
                <a:lnTo>
                  <a:pt x="182880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840480" cy="21579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54880" y="1645920"/>
            <a:ext cx="3840480" cy="731520"/>
          </a:xfrm>
          <a:custGeom>
            <a:avLst/>
            <a:gdLst/>
            <a:ahLst/>
            <a:cxnLst/>
            <a:rect l="l" t="t" r="r" b="b"/>
            <a:pathLst>
              <a:path w="3840480" h="731520">
                <a:moveTo>
                  <a:pt x="0" y="0"/>
                </a:moveTo>
                <a:lnTo>
                  <a:pt x="3840480" y="0"/>
                </a:lnTo>
                <a:lnTo>
                  <a:pt x="384048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" name="Shape 3"/>
          <p:cNvSpPr/>
          <p:nvPr/>
        </p:nvSpPr>
        <p:spPr>
          <a:xfrm>
            <a:off x="4754880" y="1645920"/>
            <a:ext cx="36576" cy="731520"/>
          </a:xfrm>
          <a:custGeom>
            <a:avLst/>
            <a:gdLst/>
            <a:ahLst/>
            <a:cxnLst/>
            <a:rect l="l" t="t" r="r" b="b"/>
            <a:pathLst>
              <a:path w="36576" h="731520">
                <a:moveTo>
                  <a:pt x="0" y="0"/>
                </a:moveTo>
                <a:lnTo>
                  <a:pt x="36576" y="0"/>
                </a:lnTo>
                <a:lnTo>
                  <a:pt x="3657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8" name="Text 4"/>
          <p:cNvSpPr/>
          <p:nvPr/>
        </p:nvSpPr>
        <p:spPr>
          <a:xfrm>
            <a:off x="4937760" y="1783080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：技术是杠杆，智慧是唯一支点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4754880" y="2560320"/>
            <a:ext cx="3840480" cy="731520"/>
          </a:xfrm>
          <a:custGeom>
            <a:avLst/>
            <a:gdLst/>
            <a:ahLst/>
            <a:cxnLst/>
            <a:rect l="l" t="t" r="r" b="b"/>
            <a:pathLst>
              <a:path w="3840480" h="731520">
                <a:moveTo>
                  <a:pt x="0" y="0"/>
                </a:moveTo>
                <a:lnTo>
                  <a:pt x="3840480" y="0"/>
                </a:lnTo>
                <a:lnTo>
                  <a:pt x="384048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6"/>
          <p:cNvSpPr/>
          <p:nvPr/>
        </p:nvSpPr>
        <p:spPr>
          <a:xfrm>
            <a:off x="4754880" y="2560320"/>
            <a:ext cx="36576" cy="731520"/>
          </a:xfrm>
          <a:custGeom>
            <a:avLst/>
            <a:gdLst/>
            <a:ahLst/>
            <a:cxnLst/>
            <a:rect l="l" t="t" r="r" b="b"/>
            <a:pathLst>
              <a:path w="36576" h="731520">
                <a:moveTo>
                  <a:pt x="0" y="0"/>
                </a:moveTo>
                <a:lnTo>
                  <a:pt x="36576" y="0"/>
                </a:lnTo>
                <a:lnTo>
                  <a:pt x="3657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11" name="Text 7"/>
          <p:cNvSpPr/>
          <p:nvPr/>
        </p:nvSpPr>
        <p:spPr>
          <a:xfrm>
            <a:off x="4937760" y="2697480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未来心态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：拒绝恐惧，坚持与技术共演化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4754880" y="3474720"/>
            <a:ext cx="3840480" cy="731520"/>
          </a:xfrm>
          <a:custGeom>
            <a:avLst/>
            <a:gdLst/>
            <a:ahLst/>
            <a:cxnLst/>
            <a:rect l="l" t="t" r="r" b="b"/>
            <a:pathLst>
              <a:path w="3840480" h="731520">
                <a:moveTo>
                  <a:pt x="0" y="0"/>
                </a:moveTo>
                <a:lnTo>
                  <a:pt x="3840480" y="0"/>
                </a:lnTo>
                <a:lnTo>
                  <a:pt x="384048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9"/>
          <p:cNvSpPr/>
          <p:nvPr/>
        </p:nvSpPr>
        <p:spPr>
          <a:xfrm>
            <a:off x="4754880" y="3474720"/>
            <a:ext cx="36576" cy="731520"/>
          </a:xfrm>
          <a:custGeom>
            <a:avLst/>
            <a:gdLst/>
            <a:ahLst/>
            <a:cxnLst/>
            <a:rect l="l" t="t" r="r" b="b"/>
            <a:pathLst>
              <a:path w="36576" h="731520">
                <a:moveTo>
                  <a:pt x="0" y="0"/>
                </a:moveTo>
                <a:lnTo>
                  <a:pt x="36576" y="0"/>
                </a:lnTo>
                <a:lnTo>
                  <a:pt x="3657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14" name="Text 10"/>
          <p:cNvSpPr/>
          <p:nvPr/>
        </p:nvSpPr>
        <p:spPr>
          <a:xfrm>
            <a:off x="4937760" y="3611880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行动指南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：即刻构建属于你的AI竞争力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EEEEE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457200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时代下的职业重塑 · 课程总结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2026-04-11T07:05:27Z</dcterms:created>
  <dcterms:modified xsi:type="dcterms:W3CDTF">2026-04-11T07:05:27Z</dcterms:modified>
</cp:coreProperties>
</file>