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制造业</c:v>
                  </c:pt>
                  <c:pt idx="1">
                    <c:v>服务业</c:v>
                  </c:pt>
                  <c:pt idx="2">
                    <c:v>创意产业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各位同学，大家好，欢迎来到本期课程。我是林教授。在今天这个人工智能深度融入生活的时代，我们不仅要关注技术的突破，更要深入探讨一个决定未来走向的话题——人工智能的伦理与社会责任。
正如屏幕上所显示的，AI技术是一把典型的双刃剑。它在显著提升社会运行效率的同时，也埋下了伦理风险的种子。我们的治理逻辑必须发生转变：不能仅仅满足于工具层面的‘合规’，更要站在社会正义的高度去审视技术的应用。本课程我们将重点剖析算法偏见、数据隐私以及系统的透明度与责任归属。
请大家观察这张配图，它象征着科技与人文的交织。我们讨论伦理，本质上是在为冰冷的算法注入人类文明的温度。
这是我们本课程的核心愿景：我们要共同构建一个负责任、以人为本的智能社会。科技应当是向上向善的，而不应成为伤害弱势群体或侵犯个体权利的武器。
接下来的学习中，我会带领大家通过案例分析和模拟实验室，一步步揭开算法背后的伦理迷雾。现在，让我们正式开启这趟思辨之旅。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承接刚才提到的伦理迷雾，我们现在进入核心议题：算法偏见。大家可能认为机器是客观的，但正如标题所言，当AI从不完美的数据中学习时，它也会学会“歧视”。
所谓的算法偏见，并非指机器具有主观恶意，而是系统性错误导致它对特定群体产生了歧视性结果。这种偏见的根源往往深植于历史数据中。如果过去数十年的社会数据本身就存在性别或种族偏好，AI在学习过程中就会将其视为“规律”并放大。
让我们看这组典型的案例对比。在招聘算法中，如果历史上的成功者多为男性，模型可能会自动给女性简历降权；在信贷审核中，某些地区的居民可能因为邮编代表的社会阶层而被拒绝贷款。这些并非假设，而是已经发生的真实挑战。
这种不公不仅影响个人命运，更会固化社会结构。这就要求我们必须采取行动。
要缓解这一问题，我们不仅需要引入更多样化的训练集，还要使用公平性审计工具对算法进行“体检”，并提升决策的透明度。技术不应成为加剧社会不公的推手。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刚才我们通过实验和检测探讨了算法偏见的问题。而支撑算法运行的底层基石——数据，正引发着另一场深刻的伦理讨论。现在，让我们进入第五章：数据隐私与监控的边界。
人工智能的发展离不开对海量数据的“渴望”。正如屏幕上列出的第一个关键点，大规模的数据采集往往与个人隐私保护产生直接冲突。这种对数据的采集是否应当有上限？
在公共安全领域，面部识别和行为监控技术虽然提高了治理效率，但也带来了关于“全天候监视”和个人自由博弈的深度担忧。我们需要在法律框架内寻找答案，比如国内的《个人信息保护法》（PIPL）以及欧盟的 GDPR，它们都确立了处理数据必须遵循的伦理准则。
除了法律手段，技术防御也至关重要。目前学术界积极推进的联邦学习和差分隐私，正是试图在保护隐私的前提下实现数据的价值交换。大家可以结合这张图思考一下，技术本身是否能成为解决隐私问题的钥匙？
最后，我们面临一个核心议题：如何在技术效能与个人权利保护之间寻找那个动态的平衡点？关于面部识别在生活中的广泛应用，我想听听大家的看法。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刚才我们讨论了个人隐私与公共监控的博弈，现在让我们更进一步。即便数据的使用是合法的，当决策是由不可见的算法做出时，我们依然面临着另一个严峻的挑战——也就是本节课要探讨的“黑盒困境”。
所谓的“黑盒”，本质上源于深度学习模型极高的非线性与高维度复杂性。正如这里提到的，当一个模型拥有数以亿计的参数时，即使是开发者，也往往难以准确追踪某一个具体预测背后的完整逻辑。这种不透明性正是伦理风险的温床。
请看这张示意图，它展示了神经网络在处理决策路径时的复杂交织。为了打破这种不可见性，科学家们提出了可解释人工智能（XAI）的概念，试图将这些乱麻般的逻辑变得可观测、可理解。
这种透明度并非仅仅是技术追求，更是伦理上的必要性。在医疗诊断和司法判决中，如果AI给出了一个结论，却说不出依据，我们如何敢托付生命或自由？同时，这也涉及用户的知情权。例如，当银行系统拒绝了你的贷款申请时，它有义务告知你原因，而不是仅仅抛出一个冰冷的拒绝结果。
目前我们的实现路径分为两条：一是设计天然具有可解释性的模型架构，虽然这可能会牺牲一定的预测精度；二是采用事后解释技术，在复杂模型生成结果后再通过辅助工具去反向拆解。如何在这两者间取舍，是每一个AI从业者必须思考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我们刚刚讨论了算法的透明度与可解释性，那么一个随之而来的尖锐问题就是：当这些“黑盒”在现实中，比如在自动驾驶或辅助医疗中犯错并造成损害时，这笔账该算在谁头上？这就是我们要讨论的第八章：责任归属。
为了让大家有更直观的感受，我们先来看一段视频，观察一下自动驾驶算法在面临极端路况时，其决策路径是如何演变的。请大家注意视频中算法对风险权重的动态分配。
看完视频我们可以发现，当经典的“电车难题”被写进代码，责任链条会变得异常复杂。是从算法底层写下逻辑的开发者，还是喂给模型偏见数据的数据供应商，或者是关键时刻未能干预的使用者？甚至有人提议，是否该赋予AI某种“法律人格”，通过强制保险和伦理制度来化解风险。
这里最核心的追问在于：这种模糊地带到底是技术本身“越权”了，还是我们现有的法律框架相对于技术进步已经出现了严重的滞后？这个问题不仅关乎法理，更关乎我们对AI治理的底层逻辑。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当我们理清了责任归属的法律框架，必然会触及一个更具现实冲击力的话题：如果AI不仅会犯错，还会“替代”人类的岗位，社会将面临怎样的重构？这就是我们今天要深入探讨的——AI与就业的博弈。
劳动力市场的变迁正呈现出双重趋势。一方面，重复性劳动乃至部分认知类劳动正面临自动化冲击；但另一方面，AI训练师、伦理审核员等新岗位的崛起，预示着人机协作将成为未来的主流模式。
请大家关注这组预测数据。制造业受到的影响比例最高，达到45%，而创意产业的影响仅为10%。这说明AI虽然在逻辑和规则处理上极具优势，但在感性与创造力领域，人类依然拥有不可替代的护城河。
应对这种变迁的关键，在于社会治理的转型。我们需要从传统的技能驱动教育，转向以创造力为核心的终身教育模式。与其担心技术性失业，不如思考如何通过持续学习来完成角色的重塑。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经过刚才紧张的实战演练，我们关于‘人工智能伦理与社会责任’的课程也接近了尾声。让我们回到这堂课的初衷，共同展望一个迈向善治的AI未来。
请大家记住这三点核心结论：首先，伦理导向不是创新的阻碍，正如我们在第二页讨论算法偏见时提到的，伦理更像是‘创新的护栏’，它让我们在技术发展的快车道上不至于偏离方向。其次，治理需要政、企、学、研以及公众的协同参与，缺一不可。
而最关键的一点，正如我们在第九页探讨AI与就业关系时所强调的，AI技术的终极宗旨必须是增强人类的能力，捍卫人类的尊严，而非削弱人的价值。我们不仅要追求智能，更要守护人文关怀。
在离开教室前，我想留给大家一个课后思考题。在你们未来的专业领域中，无论是法律、医疗、艺术还是工程，AI的应用可能会引发哪种具体的伦理困境？你会如何去应对它？
希望通过这节课，大家能不仅成为技术的掌握者，更能成为科技向善的捍卫者。今天的课就到这里，谢谢大家！下面我想听听思睿对这个思考题的初步想法。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A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人工智能伦理与社会责任：引言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645920"/>
            <a:ext cx="36576" cy="1188720"/>
          </a:xfrm>
          <a:custGeom>
            <a:avLst/>
            <a:gdLst/>
            <a:ahLst/>
            <a:cxnLst/>
            <a:rect l="l" t="t" r="r" b="b"/>
            <a:pathLst>
              <a:path w="36576" h="1188720">
                <a:moveTo>
                  <a:pt x="0" y="0"/>
                </a:moveTo>
                <a:lnTo>
                  <a:pt x="36576" y="0"/>
                </a:lnTo>
                <a:lnTo>
                  <a:pt x="36576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45920"/>
            <a:ext cx="365760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双刃剑效应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：效率提升与伦理风险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治理逻辑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：从工具合规转向社会正义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核心议题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：偏见、隐私、透明与责任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紧迫需求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：在创新与风险中寻求平衡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54480"/>
            <a:ext cx="3749040" cy="211226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977640"/>
            <a:ext cx="8046720" cy="640080"/>
          </a:xfrm>
          <a:custGeom>
            <a:avLst/>
            <a:gdLst/>
            <a:ahLst/>
            <a:cxnLst/>
            <a:rect l="l" t="t" r="r" b="b"/>
            <a:pathLst>
              <a:path w="8046720" h="640080">
                <a:moveTo>
                  <a:pt x="0" y="0"/>
                </a:moveTo>
                <a:lnTo>
                  <a:pt x="8046720" y="0"/>
                </a:lnTo>
                <a:lnTo>
                  <a:pt x="804672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2F7FD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4069080"/>
            <a:ext cx="7680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核心愿景：构建负责任、以人为本的智能社会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算法偏见：当AI学会了“歧视”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40233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算法偏见定义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系统性错误导致算法对特定群体产生歧视性结果。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偏见根源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源于历史数据中的社会偏见及特征选择的误导。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80160"/>
            <a:ext cx="3657600" cy="2057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560320"/>
            <a:ext cx="40233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典型偏见案例对比</a:t>
            </a:r>
            <a:endParaRPr lang="en-US" sz="1152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80944"/>
          <a:ext cx="8046720" cy="1097280"/>
        </p:xfrm>
        <a:graphic>
          <a:graphicData uri="http://schemas.openxmlformats.org/drawingml/2006/table">
            <a:tbl>
              <a:tblPr/>
              <a:tblGrid>
                <a:gridCol w="1609344"/>
                <a:gridCol w="6437376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应用领域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偏见表现及社会影响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人才招聘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筛选模型可能固化历史上的性别或种族职业偏好。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信贷审核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基于邮政编码等替代变量，对特定社区实施信贷歧视。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面部识别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因训练样本失衡，导致对有色人种的识别错误率升高。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251960"/>
            <a:ext cx="36576" cy="329184"/>
          </a:xfrm>
          <a:custGeom>
            <a:avLst/>
            <a:gdLst/>
            <a:ahLst/>
            <a:cxnLst/>
            <a:rect l="l" t="t" r="r" b="b"/>
            <a:pathLst>
              <a:path w="36576" h="329184">
                <a:moveTo>
                  <a:pt x="0" y="0"/>
                </a:moveTo>
                <a:lnTo>
                  <a:pt x="36576" y="0"/>
                </a:lnTo>
                <a:lnTo>
                  <a:pt x="36576" y="329184"/>
                </a:lnTo>
                <a:lnTo>
                  <a:pt x="0" y="329184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0" name="Text 5"/>
          <p:cNvSpPr/>
          <p:nvPr/>
        </p:nvSpPr>
        <p:spPr>
          <a:xfrm>
            <a:off x="685800" y="4206240"/>
            <a:ext cx="79095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缓解策略：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引入多样化训练集、使用公平性技术审计工具、提升算法决策透明度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数据隐私与监控的边界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746504"/>
            <a:ext cx="36576" cy="1371600"/>
          </a:xfrm>
          <a:custGeom>
            <a:avLst/>
            <a:gdLst/>
            <a:ahLst/>
            <a:cxnLst/>
            <a:rect l="l" t="t" r="r" b="b"/>
            <a:pathLst>
              <a:path w="36576" h="1371600">
                <a:moveTo>
                  <a:pt x="0" y="0"/>
                </a:moveTo>
                <a:lnTo>
                  <a:pt x="36576" y="0"/>
                </a:lnTo>
                <a:lnTo>
                  <a:pt x="36576" y="1371600"/>
                </a:lnTo>
                <a:lnTo>
                  <a:pt x="0" y="1371600"/>
                </a:lnTo>
                <a:close/>
              </a:path>
            </a:pathLst>
          </a:custGeom>
          <a:solidFill>
            <a:srgbClr val="94A3B8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645920"/>
            <a:ext cx="384048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大规模采集与隐私冲突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安全博弈：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面部识别与行为监控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法律框架：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PIPL 与 GDPR 伦理原则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技术防御：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联邦学习与差分隐私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657600" cy="2057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393192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2E8F0"/>
          </a:solidFill>
          <a:ln/>
        </p:spPr>
      </p:sp>
      <p:sp>
        <p:nvSpPr>
          <p:cNvPr id="9" name="Text 5"/>
          <p:cNvSpPr/>
          <p:nvPr/>
        </p:nvSpPr>
        <p:spPr>
          <a:xfrm>
            <a:off x="548640" y="4114800"/>
            <a:ext cx="8046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核心议题：如何在技术效能与个人权利保护之间寻找动态平衡点？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黑盒困境：算法透明度与可解释性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657600" cy="2057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611880"/>
            <a:ext cx="365760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图：神经网络决策路径的透明化示意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4572000" y="1463040"/>
            <a:ext cx="4023360" cy="914400"/>
          </a:xfrm>
          <a:custGeom>
            <a:avLst/>
            <a:gdLst/>
            <a:ahLst/>
            <a:cxnLst/>
            <a:rect l="l" t="t" r="r" b="b"/>
            <a:pathLst>
              <a:path w="4023360" h="914400">
                <a:moveTo>
                  <a:pt x="0" y="0"/>
                </a:moveTo>
                <a:lnTo>
                  <a:pt x="4023360" y="0"/>
                </a:lnTo>
                <a:lnTo>
                  <a:pt x="402336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0" y="1463040"/>
            <a:ext cx="36576" cy="914400"/>
          </a:xfrm>
          <a:custGeom>
            <a:avLst/>
            <a:gdLst/>
            <a:ahLst/>
            <a:cxnLst/>
            <a:rect l="l" t="t" r="r" b="b"/>
            <a:pathLst>
              <a:path w="36576" h="914400">
                <a:moveTo>
                  <a:pt x="0" y="0"/>
                </a:moveTo>
                <a:lnTo>
                  <a:pt x="36576" y="0"/>
                </a:lnTo>
                <a:lnTo>
                  <a:pt x="36576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9" name="Text 5"/>
          <p:cNvSpPr/>
          <p:nvPr/>
        </p:nvSpPr>
        <p:spPr>
          <a:xfrm>
            <a:off x="4754880" y="157276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“黑盒”的本质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深度学习模型的非线性与高维度复杂性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4572000" y="2514600"/>
            <a:ext cx="4023360" cy="914400"/>
          </a:xfrm>
          <a:custGeom>
            <a:avLst/>
            <a:gdLst/>
            <a:ahLst/>
            <a:cxnLst/>
            <a:rect l="l" t="t" r="r" b="b"/>
            <a:pathLst>
              <a:path w="4023360" h="914400">
                <a:moveTo>
                  <a:pt x="0" y="0"/>
                </a:moveTo>
                <a:lnTo>
                  <a:pt x="4023360" y="0"/>
                </a:lnTo>
                <a:lnTo>
                  <a:pt x="402336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0" y="2514600"/>
            <a:ext cx="36576" cy="914400"/>
          </a:xfrm>
          <a:custGeom>
            <a:avLst/>
            <a:gdLst/>
            <a:ahLst/>
            <a:cxnLst/>
            <a:rect l="l" t="t" r="r" b="b"/>
            <a:pathLst>
              <a:path w="36576" h="914400">
                <a:moveTo>
                  <a:pt x="0" y="0"/>
                </a:moveTo>
                <a:lnTo>
                  <a:pt x="36576" y="0"/>
                </a:lnTo>
                <a:lnTo>
                  <a:pt x="36576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12" name="Text 8"/>
          <p:cNvSpPr/>
          <p:nvPr/>
        </p:nvSpPr>
        <p:spPr>
          <a:xfrm>
            <a:off x="4754880" y="262432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XAI 的伦理必要性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医疗、司法决策中的透明度与用户知情权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4572000" y="3566160"/>
            <a:ext cx="4023360" cy="914400"/>
          </a:xfrm>
          <a:custGeom>
            <a:avLst/>
            <a:gdLst/>
            <a:ahLst/>
            <a:cxnLst/>
            <a:rect l="l" t="t" r="r" b="b"/>
            <a:pathLst>
              <a:path w="4023360" h="914400">
                <a:moveTo>
                  <a:pt x="0" y="0"/>
                </a:moveTo>
                <a:lnTo>
                  <a:pt x="4023360" y="0"/>
                </a:lnTo>
                <a:lnTo>
                  <a:pt x="402336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0" y="3566160"/>
            <a:ext cx="36576" cy="914400"/>
          </a:xfrm>
          <a:custGeom>
            <a:avLst/>
            <a:gdLst/>
            <a:ahLst/>
            <a:cxnLst/>
            <a:rect l="l" t="t" r="r" b="b"/>
            <a:pathLst>
              <a:path w="36576" h="914400">
                <a:moveTo>
                  <a:pt x="0" y="0"/>
                </a:moveTo>
                <a:lnTo>
                  <a:pt x="36576" y="0"/>
                </a:lnTo>
                <a:lnTo>
                  <a:pt x="36576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334155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0" y="3675888"/>
            <a:ext cx="365760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实现路径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从可解释架构设计到事后解释技术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责任归属：当AI犯错时谁该负责？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EEEEE"/>
          </a:solidFill>
          <a:ln/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754880" y="1645920"/>
            <a:ext cx="3840480" cy="2157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0" y="3886200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自动驾驶算法的决策路径演变</a:t>
            </a:r>
            <a:endParaRPr lang="en-US" sz="1152" dirty="0"/>
          </a:p>
        </p:txBody>
      </p:sp>
      <p:sp>
        <p:nvSpPr>
          <p:cNvPr id="7" name="Shape 3"/>
          <p:cNvSpPr/>
          <p:nvPr/>
        </p:nvSpPr>
        <p:spPr>
          <a:xfrm>
            <a:off x="640080" y="1783080"/>
            <a:ext cx="36576" cy="1243584"/>
          </a:xfrm>
          <a:custGeom>
            <a:avLst/>
            <a:gdLst/>
            <a:ahLst/>
            <a:cxnLst/>
            <a:rect l="l" t="t" r="r" b="b"/>
            <a:pathLst>
              <a:path w="36576" h="1243584">
                <a:moveTo>
                  <a:pt x="0" y="0"/>
                </a:moveTo>
                <a:lnTo>
                  <a:pt x="36576" y="0"/>
                </a:lnTo>
                <a:lnTo>
                  <a:pt x="36576" y="1243584"/>
                </a:lnTo>
                <a:lnTo>
                  <a:pt x="0" y="1243584"/>
                </a:lnTo>
                <a:close/>
              </a:path>
            </a:pathLst>
          </a:custGeom>
          <a:solidFill>
            <a:srgbClr val="1A73E8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1645920"/>
            <a:ext cx="3657600" cy="1517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极端情况下的决策算法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多元责任归属链条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AI法律人格地位探讨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强制保险与伦理制度</a:t>
            </a:r>
            <a:endParaRPr lang="en-US" sz="1152" dirty="0"/>
          </a:p>
        </p:txBody>
      </p:sp>
      <p:sp>
        <p:nvSpPr>
          <p:cNvPr id="9" name="Shape 5"/>
          <p:cNvSpPr/>
          <p:nvPr/>
        </p:nvSpPr>
        <p:spPr>
          <a:xfrm>
            <a:off x="548640" y="4389120"/>
            <a:ext cx="3931920" cy="530352"/>
          </a:xfrm>
          <a:custGeom>
            <a:avLst/>
            <a:gdLst/>
            <a:ahLst/>
            <a:cxnLst/>
            <a:rect l="l" t="t" r="r" b="b"/>
            <a:pathLst>
              <a:path w="3931920" h="530352">
                <a:moveTo>
                  <a:pt x="0" y="0"/>
                </a:moveTo>
                <a:lnTo>
                  <a:pt x="3931920" y="0"/>
                </a:lnTo>
                <a:lnTo>
                  <a:pt x="3931920" y="530352"/>
                </a:lnTo>
                <a:lnTo>
                  <a:pt x="0" y="530352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4389120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核心追问：技术越权还是法律滞后？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AI与就业：技术性失业还是角色重塑？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4495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1737360"/>
          </a:xfrm>
          <a:custGeom>
            <a:avLst/>
            <a:gdLst/>
            <a:ahLst/>
            <a:cxnLst/>
            <a:rect l="l" t="t" r="r" b="b"/>
            <a:pathLst>
              <a:path w="3931920" h="1737360">
                <a:moveTo>
                  <a:pt x="0" y="0"/>
                </a:moveTo>
                <a:lnTo>
                  <a:pt x="3931920" y="0"/>
                </a:lnTo>
                <a:lnTo>
                  <a:pt x="3931920" y="1737360"/>
                </a:lnTo>
                <a:lnTo>
                  <a:pt x="0" y="1737360"/>
                </a:lnTo>
                <a:close/>
              </a:path>
            </a:pathLst>
          </a:cu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737360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劳动力市场变迁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自动化冲击：重复性与认知劳动替代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新岗位崛起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AI训练师、伦理审核员、人机协作专家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4754880" y="1463040"/>
            <a:ext cx="384048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各行业受AI影响比例预测</a:t>
            </a:r>
            <a:endParaRPr lang="en-US" sz="1152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754880" y="1920240"/>
          <a:ext cx="38404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749040"/>
            <a:ext cx="8046720" cy="822960"/>
          </a:xfrm>
          <a:custGeom>
            <a:avLst/>
            <a:gdLst/>
            <a:ahLst/>
            <a:cxnLst/>
            <a:rect l="l" t="t" r="r" b="b"/>
            <a:pathLst>
              <a:path w="8046720" h="822960">
                <a:moveTo>
                  <a:pt x="0" y="0"/>
                </a:moveTo>
                <a:lnTo>
                  <a:pt x="8046720" y="0"/>
                </a:lnTo>
                <a:lnTo>
                  <a:pt x="804672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8F6F3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3922776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社会应对：从技能驱动转向创造力驱动的终身教育模式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总结：迈向善治的AI未来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3840480" cy="27432"/>
          </a:xfrm>
          <a:custGeom>
            <a:avLst/>
            <a:gdLst/>
            <a:ahLst/>
            <a:cxnLst/>
            <a:rect l="l" t="t" r="r" b="b"/>
            <a:pathLst>
              <a:path w="3840480" h="27432">
                <a:moveTo>
                  <a:pt x="0" y="0"/>
                </a:moveTo>
                <a:lnTo>
                  <a:pt x="3840480" y="0"/>
                </a:lnTo>
                <a:lnTo>
                  <a:pt x="384048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498DB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08760"/>
            <a:ext cx="402336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伦理导向：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创新护栏而非发展阻碍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多元治理：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政企学研与公众协同参与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核心宗旨：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449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增强人类能力，捍卫人的尊严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463040"/>
            <a:ext cx="3657600" cy="2057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794760"/>
            <a:ext cx="8046720" cy="914400"/>
          </a:xfrm>
          <a:custGeom>
            <a:avLst/>
            <a:gdLst/>
            <a:ahLst/>
            <a:cxnLst/>
            <a:rect l="l" t="t" r="r" b="b"/>
            <a:pathLst>
              <a:path w="8046720" h="914400">
                <a:moveTo>
                  <a:pt x="0" y="0"/>
                </a:moveTo>
                <a:lnTo>
                  <a:pt x="8046720" y="0"/>
                </a:lnTo>
                <a:lnTo>
                  <a:pt x="8046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Shape 4"/>
          <p:cNvSpPr/>
          <p:nvPr/>
        </p:nvSpPr>
        <p:spPr>
          <a:xfrm>
            <a:off x="548640" y="3794760"/>
            <a:ext cx="54864" cy="914400"/>
          </a:xfrm>
          <a:custGeom>
            <a:avLst/>
            <a:gdLst/>
            <a:ahLst/>
            <a:cxnLst/>
            <a:rect l="l" t="t" r="r" b="b"/>
            <a:pathLst>
              <a:path w="54864" h="914400">
                <a:moveTo>
                  <a:pt x="0" y="0"/>
                </a:moveTo>
                <a:lnTo>
                  <a:pt x="54864" y="0"/>
                </a:lnTo>
                <a:lnTo>
                  <a:pt x="54864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3877056"/>
            <a:ext cx="75895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在你未来的专业领域中，AI技术应用可能引发哪种具体的伦理困境？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2026-04-12T01:10:51Z</dcterms:created>
  <dcterms:modified xsi:type="dcterms:W3CDTF">2026-04-12T01:10:51Z</dcterms:modified>
</cp:coreProperties>
</file>