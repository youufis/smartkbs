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大家好！欢迎来到机器学习专题课堂。我是张老师。今天我们要开启一段非常关键的旅程，去探讨那个被誉为“机器学习灵魂”的环节——特征工程。
很多初学者会把注意力全部放在复杂的算法模型上，但其实我们可以把机器学习想象成烹饪。原始数据就像是刚从市场买回来的食材，特征工程则是洗菜、切菜和调味的过程。没有这个精细化的处理，再高端的厨具和烹饪技术，也难做出绝佳的美味。
正如业界流传的一句名言：数据和特征决定了机器学习的上限，而模型和算法仅仅是去逼近这个上限。这意味着，如果我们没有挖掘出高质量的特征，模型选择再好也是徒劳。
请看这个流程图，一切从原始数据开始，它是未经雕琢的原材料。
接着进入我们今天的主题——特征工程。这是将数据转化为业务知识、提炼信号的关键步骤。在接下来的课程里，小灵会带大家实操如何把这些乱麻般的数据梳理成模型喜欢的样子。
只有特征工程做扎实了，后续的模型训练才能事半功倍，最终得到精准的预测结果。大家准备好和我一起去挖掘数据的灵魂了吗？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既然我们要挖掘数据的“灵魂”，首先得保证这些数据是健康、可靠的。就像盖楼一样，地基不稳，模型再好也容易崩塌。这一页我们重点讨论如何通过处理缺失值和异常值，为模型构建一个稳固的基石。
首先看缺失值。在现实业务场景中，由于系统故障或人为漏填，数据缺失几乎是不可避免的。
基础的处理方式包括直接删除含有缺失值的行，或者使用统计值如均值、中位数进行填充。如果追求更高的精度，小灵平时经常会用到K-NN填充或回归模型预测，这能更好地保留数据的原始分布特征。
请大家注意看这张对比表。每种方法都有优缺点：删除法最快但会损失信息；统计填充简单但可能引入偏差。欣欣在做实验时可以对比一下，不同填充方案对后续模型准确率的影响。
解决完缺失，我们再来看异常值。那些“离群索居”的数据点如果不加处理，会严重误导模型的学习方向。
我们通常使用3σ原则或箱线图来进行检测。看这张可视化图，超出上下边缘的点就是我们要关注的目标。处理时，除了直接剔除，我们还可以用“盖帽法”，也就是将异常值强制拉回到指定的分位数截断点上，以此来减少噪声。
好了，数据清洗的基本招式我们已经过了一遍。接下来，大家通过一个小测试来检验一下掌握情况吧。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如何统一特征的量纲，现在我们更进一步，进入“特征变换”的环节。如果说缩放是调整坐标轴的刻度，那么变换就是在调整数据本身的“形状”，目的是为了消除数据分布不均对模型造成的负面影响。
首先看数值变换。在处理像个人收入、网页点击量这类“长尾分布”的数据时，对数变换是最常用的手段，它能让偏态数据更接近正态分布。另外，还有“变量分箱”，通过将连续值划分到不同的区间，我们可以有效降低数据中噪声的影响，提升模型的鲁棒性。
请大家观察这张对比图，可以非常直观地看到：左侧原始数据的分布极其不对称，而右侧经过对数变换后，数据点分布得更加均匀。这种转换对于线性模型和很多基于距离的算法来说至关重要。
此外，针对类别型变量，我们还需要进行独热编码或标签编码。大家一定要记住，特征变换是提升非线性模型表现的核心步骤，它直接决定了模型能否“读懂”数据的内在逻辑。那么在实际应用中，大家觉得还有哪些数据会出现这种严重的偏态分布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如何通过变换来修正数据的分布。现在，我们要进入特征工程中最具创造力的环节——特征构造。如果说之前的步骤是在修饰原材料，那么特征构造就是根据业务理解去创造全新的“武器”，直接决定了模型的业务价值。
核心策略之一是组合特征。通过算术运算，我们可以衍生出更具表达力的指标。比如在分析用户价值时，单纯看“总消费金额”可能不够全面，如果我们用它除以“订单数”，得到“人均消费”，就能更精准地刻画用户的购买力。这就是将业务逻辑注入数据的过程。
同时，不要忽视时间维度的挖掘。从看似简单的日期中，我们可以提取出小时、周几，甚至是是否为节假日。这些时间特征往往能捕捉到周期性的用户行为规律。
对于更复杂的非线性关系，我们可以使用多项式特征。正如这个公式所示，通过特征间的交互乘积，我们可以捕捉到单一特征无法解释的深层联系，让模型变得更加敏锐。
让我们来看一个经典案例：电商中的RFM模型。这是业务知识与特征构造完美结合的典范。
通过构造最近消费时间R、消费频率F和消费金额M这三个核心特征，我们就能把杂乱的订单数据转化为清晰的用户画像。这不仅是数据的处理，更是对业务深刻的洞察。大家可以思考一下，除了电商，在你们熟悉的领域还有哪些类似的经典特征组合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完成了刚才的特征变换和构造练习后，大家可能发现手头的特征变多了。但特征并不是越多越好，这就涉及到我们要讨论的“特征选择”——核心思想就是“少即是多”，通过减少冗余来提升模型的训练效率和泛化能力。
首先是过滤法。这种方法非常直观，它独立于具体的学习算法。我们通过计算相关系数、卡方检验或互信息，给每个特征打分。它的优点是计算速度极快，适合作为海量特征的第一步粗筛选。
接着是包裹法，比如递归特征消除（RFE）。它更像是“量身定制”，通过不断地训练模型来评价特征子集的好坏。虽然它的计算开销比较高，但因为考虑了特征与算法的契合度，筛选出的特征往往更精准。
第三种是嵌入法，这是目前非常流行的方法。它在模型训练的过程中同步进行特征选择。典型的例子是Lasso回归的L1正则化，或者是树模型在生长过程中自动计算权重，它在性能和效率之间取得了很好的平衡。
大家可以看右侧这张图，这是一个典型的随机森林特征重要性排序。通过这种可视化的方式，我们可以清晰地识别出哪些是关键特征，哪些是可以被舍弃的低贡献度特征。好了，讲了这么多理论，我们来看看在实际工程中该如何平衡这些方法的优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到这里，我们本节课关于特征工程的核心内容就全部讲解完了。正如我们在第一页所说的，特征工程是机器学习的灵魂，它既包含严密的‘科学’逻辑，也蕴含着需要灵感与业务洞察的‘艺术’。
请大家记住这两个核心要点：首先，特征工程没有放之四海而皆准的‘标准答案’，我们刚才讨论的每一种方法，都必须紧密结合业务逻辑去选择。其次，它是一个闭环迭代的过程，我们需要在分析、构造、筛选和验证之间不断循环，直到找到最优解。
尤其是刚才我们在PCA降维和特征构造中看到的，任何一个环节的微调，都可能直接影响最终模型的表现。
我最后想送给大家一句话：‘好的特征往往比复杂的算法更有效’。在实际工程中，深耕数据往往比单纯堆砌模型参数能带来更大的回报。
完成了特征的处理，下一步自然就是评估了。下节课我们将探讨如何科学地评价一个模型的好坏。不过在结束今天的课程之前，我们先通过一个小测验来巩固一下刚才学到的知识点。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特征工程：机器学习的灵魂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384048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待处理的食材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洗菜、切菜与调味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最后的烹饪过程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48640" y="2468880"/>
            <a:ext cx="4206240" cy="914400"/>
          </a:xfrm>
          <a:custGeom>
            <a:avLst/>
            <a:gdLst/>
            <a:ahLst/>
            <a:cxnLst/>
            <a:rect l="l" t="t" r="r" b="b"/>
            <a:pathLst>
              <a:path w="4206240" h="914400">
                <a:moveTo>
                  <a:pt x="0" y="0"/>
                </a:moveTo>
                <a:lnTo>
                  <a:pt x="4206240" y="0"/>
                </a:lnTo>
                <a:lnTo>
                  <a:pt x="420624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578608"/>
            <a:ext cx="38404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“数据和特征决定了机器学习的上限，而模型和算法只是逼近这个上限。”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657600" cy="2057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84048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977640"/>
            <a:ext cx="14630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2194560" y="420624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7432">
            <a:solidFill>
              <a:srgbClr val="ADB5BD"/>
            </a:solidFill>
            <a:prstDash val="solid"/>
            <a:headEnd type="none"/>
            <a:tailEnd type="arrow"/>
          </a:ln>
        </p:spPr>
      </p:sp>
      <p:sp>
        <p:nvSpPr>
          <p:cNvPr id="11" name="Shape 7"/>
          <p:cNvSpPr/>
          <p:nvPr/>
        </p:nvSpPr>
        <p:spPr>
          <a:xfrm>
            <a:off x="2651760" y="384048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0" y="3977640"/>
            <a:ext cx="14630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297680" y="420624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7432">
            <a:solidFill>
              <a:srgbClr val="ADB5BD"/>
            </a:solidFill>
            <a:prstDash val="solid"/>
            <a:headEnd type="none"/>
            <a:tailEnd type="arrow"/>
          </a:ln>
        </p:spPr>
      </p:sp>
      <p:sp>
        <p:nvSpPr>
          <p:cNvPr id="14" name="Shape 10"/>
          <p:cNvSpPr/>
          <p:nvPr/>
        </p:nvSpPr>
        <p:spPr>
          <a:xfrm>
            <a:off x="4754880" y="384048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15" name="Text 11"/>
          <p:cNvSpPr/>
          <p:nvPr/>
        </p:nvSpPr>
        <p:spPr>
          <a:xfrm>
            <a:off x="4846320" y="3977640"/>
            <a:ext cx="14630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152" dirty="0"/>
          </a:p>
        </p:txBody>
      </p:sp>
      <p:sp>
        <p:nvSpPr>
          <p:cNvPr id="16" name="Shape 12"/>
          <p:cNvSpPr/>
          <p:nvPr/>
        </p:nvSpPr>
        <p:spPr>
          <a:xfrm>
            <a:off x="6400800" y="420624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7432">
            <a:solidFill>
              <a:srgbClr val="ADB5BD"/>
            </a:solidFill>
            <a:prstDash val="solid"/>
            <a:headEnd type="none"/>
            <a:tailEnd type="arrow"/>
          </a:ln>
        </p:spPr>
      </p:sp>
      <p:sp>
        <p:nvSpPr>
          <p:cNvPr id="17" name="Shape 13"/>
          <p:cNvSpPr/>
          <p:nvPr/>
        </p:nvSpPr>
        <p:spPr>
          <a:xfrm>
            <a:off x="6858000" y="384048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28A745"/>
          </a:solidFill>
          <a:ln/>
        </p:spPr>
      </p:sp>
      <p:sp>
        <p:nvSpPr>
          <p:cNvPr id="18" name="Text 14"/>
          <p:cNvSpPr/>
          <p:nvPr/>
        </p:nvSpPr>
        <p:spPr>
          <a:xfrm>
            <a:off x="6949440" y="3977640"/>
            <a:ext cx="14630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预测结果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数据清洗：缺失值与异常值处理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931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缺失值处理策略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847088"/>
            <a:ext cx="39319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处理方式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：直接删除、统计填充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高级方法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：K-NN填充、回归模型预测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4663440" y="1371600"/>
            <a:ext cx="3931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异常值检测与策略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4663440" y="1847088"/>
            <a:ext cx="39319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：3σ原则、箱线图 (IQR分析)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：盖帽法 (分位数截断) 或剔除</a:t>
            </a:r>
            <a:endParaRPr lang="en-US" sz="1152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5029200" cy="1645920"/>
        </p:xfrm>
        <a:graphic>
          <a:graphicData uri="http://schemas.openxmlformats.org/drawingml/2006/table">
            <a:tbl>
              <a:tblPr/>
              <a:tblGrid>
                <a:gridCol w="1257300"/>
                <a:gridCol w="176022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处理方法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直接删除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简单高效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可能丢失重要信息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均值填充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保持样本容量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忽略特征间相关性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模型预测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精度较高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计算复杂度高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788920"/>
            <a:ext cx="2834640" cy="15910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0720" y="4434840"/>
            <a:ext cx="28346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图：基于箱线图的异常值可视化分析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特征变换：提升模型对数据的理解力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703320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图：对数变换前后的分布对比（偏态转正态）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754880" y="1463040"/>
            <a:ext cx="3840480" cy="2633472"/>
          </a:xfrm>
          <a:custGeom>
            <a:avLst/>
            <a:gdLst/>
            <a:ahLst/>
            <a:cxnLst/>
            <a:rect l="l" t="t" r="r" b="b"/>
            <a:pathLst>
              <a:path w="3840480" h="2633472">
                <a:moveTo>
                  <a:pt x="0" y="0"/>
                </a:moveTo>
                <a:lnTo>
                  <a:pt x="3840480" y="0"/>
                </a:lnTo>
                <a:lnTo>
                  <a:pt x="3840480" y="2633472"/>
                </a:lnTo>
                <a:lnTo>
                  <a:pt x="0" y="2633472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4"/>
          <p:cNvSpPr/>
          <p:nvPr/>
        </p:nvSpPr>
        <p:spPr>
          <a:xfrm>
            <a:off x="4937760" y="2057400"/>
            <a:ext cx="347472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数值变换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对数变换：处理偏态数据，稳定方差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变量分箱：将连续值离散化，降低噪声影响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类别变量编码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独热编码/标签编码：将非数值属性数学化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4754880" y="4206240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注：特征变换是提升非线性模型表现的关键步骤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特征构造：创造业务价值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2560320" cy="36576"/>
          </a:xfrm>
          <a:custGeom>
            <a:avLst/>
            <a:gdLst/>
            <a:ahLst/>
            <a:cxnLst/>
            <a:rect l="l" t="t" r="r" b="b"/>
            <a:pathLst>
              <a:path w="2560320" h="36576">
                <a:moveTo>
                  <a:pt x="0" y="0"/>
                </a:moveTo>
                <a:lnTo>
                  <a:pt x="2560320" y="0"/>
                </a:lnTo>
                <a:lnTo>
                  <a:pt x="25603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4206240" cy="23957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组合特征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：通过算术运算衍生指标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如：人均消费 = 总金额 / 订单数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时间挖掘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：提取日期中的隐性规律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如：区分工作日/周末、提薪日效应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多项式特征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：捕捉特征间交互作用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捕捉变量间的非线性协同效应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657600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937760" y="3749040"/>
            <a:ext cx="3657600" cy="1024128"/>
          </a:xfrm>
          <a:custGeom>
            <a:avLst/>
            <a:gdLst/>
            <a:ahLst/>
            <a:cxnLst/>
            <a:rect l="l" t="t" r="r" b="b"/>
            <a:pathLst>
              <a:path w="3657600" h="1024128">
                <a:moveTo>
                  <a:pt x="0" y="0"/>
                </a:moveTo>
                <a:lnTo>
                  <a:pt x="3657600" y="0"/>
                </a:lnTo>
                <a:lnTo>
                  <a:pt x="3657600" y="1024128"/>
                </a:lnTo>
                <a:lnTo>
                  <a:pt x="0" y="1024128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4"/>
          <p:cNvSpPr/>
          <p:nvPr/>
        </p:nvSpPr>
        <p:spPr>
          <a:xfrm>
            <a:off x="5120640" y="3886200"/>
            <a:ext cx="32918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经典案例：电商RFM模型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120640" y="4206240"/>
            <a:ext cx="32918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R: 最近消费 | F: 消费频率 | M: 消费金额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0" name="Formula 0"/>
              <p:cNvSpPr/>
              <p:nvPr/>
            </p:nvSpPr>
            <p:spPr>
              <a:xfrm>
                <a:off x="548640" y="4023360"/>
                <a:ext cx="36576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Featur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e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interaction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×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" name="Formula 0"/>
              <p:cNvSpPr/>
              <p:nvPr/>
            </p:nvSpPr>
            <p:spPr>
              <a:xfrm>
                <a:off x="548640" y="4023360"/>
                <a:ext cx="36576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1" name="Shape 6"/>
          <p:cNvSpPr/>
          <p:nvPr/>
        </p:nvSpPr>
        <p:spPr>
          <a:xfrm>
            <a:off x="4754880" y="1463040"/>
            <a:ext cx="0" cy="3200400"/>
          </a:xfrm>
          <a:custGeom>
            <a:avLst/>
            <a:gdLst/>
            <a:ahLst/>
            <a:cxnLst/>
            <a:rect l="l" t="t" r="r" b="b"/>
            <a:pathLst>
              <a:path w="0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/>
          <a:ln w="9144">
            <a:solidFill>
              <a:srgbClr val="EEEEE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特征选择：减少冗余，提升效率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40233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过滤法 (Filter)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相关系数、卡方检验、互信息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计算快速，不依赖具体算法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40233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包裹法 (Wrapper)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38404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递归特征消除 (RFE)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考虑特征子集效果，开销较高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40233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嵌入法 (Embedded)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Lasso (L1正则)、树模型权重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训练过程同步优化，平衡性能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3840480" cy="3291840"/>
          </a:xfrm>
          <a:custGeom>
            <a:avLst/>
            <a:gdLst/>
            <a:ahLst/>
            <a:cxnLst/>
            <a:rect l="l" t="t" r="r" b="b"/>
            <a:pathLst>
              <a:path w="3840480" h="3291840">
                <a:moveTo>
                  <a:pt x="0" y="0"/>
                </a:moveTo>
                <a:lnTo>
                  <a:pt x="3840480" y="0"/>
                </a:lnTo>
                <a:lnTo>
                  <a:pt x="3840480" y="3291840"/>
                </a:lnTo>
                <a:lnTo>
                  <a:pt x="0" y="3291840"/>
                </a:lnTo>
                <a:close/>
              </a:path>
            </a:pathLst>
          </a:custGeom>
          <a:solidFill>
            <a:srgbClr val="F8FA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28800"/>
            <a:ext cx="3657600" cy="2057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4023360"/>
            <a:ext cx="36576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随机森林特征重要性排序示例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总结：特征工程的艺术与科学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402336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无标准答案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：需紧密结合业务逻辑理解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闭环迭代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：分析、构造、筛选与验证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31920"/>
            <a:ext cx="3931920" cy="731520"/>
          </a:xfrm>
          <a:custGeom>
            <a:avLst/>
            <a:gdLst/>
            <a:ahLst/>
            <a:cxnLst/>
            <a:rect l="l" t="t" r="r" b="b"/>
            <a:pathLst>
              <a:path w="3931920" h="731520">
                <a:moveTo>
                  <a:pt x="0" y="0"/>
                </a:moveTo>
                <a:lnTo>
                  <a:pt x="3931920" y="0"/>
                </a:lnTo>
                <a:lnTo>
                  <a:pt x="3931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059936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好的特征往往比复杂的算法更有效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663440" y="3931920"/>
            <a:ext cx="3931920" cy="731520"/>
          </a:xfrm>
          <a:custGeom>
            <a:avLst/>
            <a:gdLst/>
            <a:ahLst/>
            <a:cxnLst/>
            <a:rect l="l" t="t" r="r" b="b"/>
            <a:pathLst>
              <a:path w="3931920" h="731520">
                <a:moveTo>
                  <a:pt x="0" y="0"/>
                </a:moveTo>
                <a:lnTo>
                  <a:pt x="3931920" y="0"/>
                </a:lnTo>
                <a:lnTo>
                  <a:pt x="3931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4087368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下节预告：如何评价一个模型的好坏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2026-04-10T12:45:39Z</dcterms:created>
  <dcterms:modified xsi:type="dcterms:W3CDTF">2026-04-10T12:45:39Z</dcterms:modified>
</cp:coreProperties>
</file>