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DAE1E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芯片制程</c:v>
                  </c:pt>
                  <c:pt idx="1">
                    <c:v>操作系统</c:v>
                  </c:pt>
                  <c:pt idx="2">
                    <c:v>EDA工具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90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A73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芯片制程</c:v>
                  </c:pt>
                  <c:pt idx="1">
                    <c:v>操作系统</c:v>
                  </c:pt>
                  <c:pt idx="2">
                    <c:v>EDA工具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10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8">
              <a:solidFill>
                <a:srgbClr val="00000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各位同学，大家好！欢迎来到《现代信息技术概论》的第一堂课。我是张老师，很高兴能和大家一起开启这段探索之旅。今天我们的首站是——“数字时代的生存基石”。
我们正处在一个由代码和数据构建的世界，信息技术已经渗透到了社会的每一个角落。对于一个国家而言，信息技术不再仅仅是推动经济的工具，更是保障生存的基石。
在本门课程中，我们将深入探讨关键信息技术如何影响国家安全，分析核心技术与经济命脉的必然联系。同时，我们还会一起辩证地看待“自主可控”与“开源共享”这两大核心议题。
正如这张背景图所示，数字世界错综复杂。在这个庞大的体系中，如果缺乏核心技术的支撑，我们的数字大厦就如同建在沙滩上一样脆弱。
在正式开始讲解之前，我想先请大家思考一个根本性的问题：在技术全球化的今天，为什么我们依然必须强调掌握核心技术？这对我们的生活会有什么直接影响吗？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刚才我们思考了为什么要强调核心技术，现在我们就来揭开它的神秘面纱——到底什么是“自主可控”。
首先，自主可控包含三个维度的内涵：一是知识产权，意味着我们要拥有核心专利与原始代码；二是技术能力，我们要具备持续研发和优化的“内功”；最后是发展主动权，确保技术演进不被外部环境随意干扰。
如果做不到这一点，我们就会面临“受制于人”的隐患。比如供应链断供会导致软硬件停止授权，甚至可能存在未知的安全后门。这就像在别人的地基上盖房子，根基是不稳固的。
我们要明确：自主可控绝非“封闭自守”，它的本质是“底座安全”。在开放的数字时代，我们必须掌握生存发展的根基，才能更有底气地走向世界。
理解了这个核心概念，我们就能明白，为什么说底座不牢，地动山摇。接下来，我们将更深入地分析当前面临的“卡脖子”技术挑战。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刚才我们讨论了自主可控的核心概念，明白了这个“底座”的重要性。现在我们要正视现实，深入剖析目前我国面临的这些“卡脖子”技术现状。
首先看硬件领域。大家最熟悉的可能就是芯片了。目前我们在7纳米及以下的先进制程上，依然面临着巨大的产能瓶颈。特别是像EUV极紫外光刻机这类核心设备，这种硬件上的受限，直接制约了我们高端芯片的产出。
接着看软件层面。相比于看得见的硬件，基础软件的外部依赖度往往更具有隐蔽性。无论是我们每天都在使用的通用操作系统、数据库，还是工业级设计中必不可少的EDA软件，底层的核心技术缺位依然是一个严峻的现实。
请大家看这张全球核心技术市场分布图。通过柱状图可以清晰地观察到，在很多高精尖领域，全球专利的高地依然掌握在少数发达国家手中。
这种分布不均的态势提醒我们，实现全面自主可控的道路依然任重而道远。了解了这些严峻的挑战，大家也就明白为什么我们国家要如此强调“科技自立自强”了。
接下来，我们将通过一个小测试，来看看大家对刚才提到的这些自主可控现状理解得怎么样。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刚才大家在测试中深入思考了自主可控。接下来，我们要探讨实现这一目标的强大路径——开源共享。这不仅仅是代码的公开，更是数字世界中一种集结全球智慧的协作力量。
简单来说，开源意味着源代码是开放的。它允许全球任何用户自由地获取、研究、修改，并进行二次分发。这种透明性打破了技术壁垒，让创新不再是孤岛。
开源的核心意义在于‘站在巨人的肩膀上’。通过利用全球公认的开源成果，我们能极大地缩短研发周期，是实现技术自主与科技自立的重要途径。思齐，这其实也是一种在开放中保护自主的智慧。
为了让大家有更直观的感受，我们来看看目前全球影响力最大的几个开源生态项目。
首先是 Linux 内核，它几乎支撑了现代互联网所有的服务器和大部分嵌入式设备，是开源界的常青树。
接着是大家手机里常用的 Android 操作系统，它的开源让全球移动互联网应用迎来了爆发式增长。
还有 RISC-V 指令集，它把开源精神从软件带到了硬件芯片领域，为我们的‘芯’自主提供了新的可能。浩然，这些技术其实每天都在你的手机和电脑里运行着。
了解了这些宏观概念，大家一定很好奇，成千上万的人是如何协同完成一个复杂项目的？下面，我们就通过一个模拟实验来亲身体验一下。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刚才我们亲身体验了开源协作的高效演进，但这种自由协作绝不是没有规则的。要让开源生态良性发展，法律保障是必不可少的。现在，我们就来深入探讨支撑开源世界的法律基石——开源协议。
开源并不意味着放弃版权，而是通过特定的许可协议，明确规定了代码的使用、修改和分发规则。在主流的开源世界里，不同的协议有着截然不同的约束力。
请看这张对比表。GPL 协议具有强烈的“传染性”，要求衍生作品也必须开源；而 MIT 和 Apache 协议则非常宽松，允许开发者在保留版权声明的前提下进行商业闭源使用。选择合适的协议，不仅是技术决策，更是对项目未来发展路径的法律规划。
大家特别要注意表中的“商用限制”和“署名权”这两项。在参与全球开源协作时，如果我们不遵守这些规则，不仅会面临法律风险，更会损害我们在国际技术社区的信誉。
所以我们要始终铭记这一核心原则：尊重知识产权是参与开源共享、实现科技自立自强的法治前提。没有法治保障的开放是不可持续的，只有在守法的基础上，我们才能真正实现自主可控。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刚才我们深入探讨了开源协议的约束力，这就引出了一个非常核心的命题：在如此开放的数字世界里，我们如何确保技术上的“自主可控”？接下来，我们要讨论的就是这两者之间的辩证融合关系。
首先，大家必须警惕“拿来主义”的误区。很多初学者会觉得，既然代码是开源的、大家都能用，那自然就是可控的。但这其实是一个极大的误区。如果我们仅仅是停留在“使用”层面，而不去研究底层逻辑，一旦遇到供应链受限或技术封锁，我们依然会面临严重的生存风险。
那么，掌握主导权的路径在哪里呢？关键在于实现从“使用”到“主导”的跨越。我们要通过深度定制开发，把技术吃透，并且积极地回馈社区，参与甚至主导国际标准的制定。只有当你成为了开源规则的制定者之一，你才能说真正实现了自主可控。
这里有一个非常成功的案例，就是RISC-V架构。正如图中展示的生态，我们利用了RISC-V开源指令集的优势，加速了国产芯片的群体突破。因为它是开放的，不被单一巨头垄断，所以我们能够在其基础上构建属于我们自己的、独立的技术生态。
总结来说，融合开源生态绝不是放弃自主，恰恰相反，它是我们实现高水平科技自立自强的关键路径。我们要在开放中求发展，在合作中求自主。关于这一点，我想听听大家的看法，特别是针对开源与安全的平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经过刚才精彩的校园系统设计实战，我们的课程也接近了尾声。通过这一节课的深入探讨，相信大家对科技的“自主可控”有了全新的理解。
让我们先进行知识回顾。我们从最基础的安全概念出发，梳理了核心技术的底层逻辑。正如我们在分析“卡脖子”技术时所看到的，真正的安全是建立在自主可控的基础之上的。
我们不仅理解了理论，还通过实战模拟了信息安全防范的闭环应用。希望大家记住，开源是协作的手段，而自强才是我们最终的目标。
展望未来，掌握数字主权已成为国家战略的核心。在万物互联的时代，网络疆域的边界正在不断扩展，这对核心技术的自主性提出了更高的要求。
最后，我想送给大家这句话：科技自立，吾辈自强。作为数字时代的“原住民”，你们肩负着在信息化浪潮中捍卫国家数字疆土的重任。希望大家能保持好奇心与钻研精神，为科技强国贡献自己的力量！今天的课程到此结束，同学们再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课程导入：数字时代的生存基石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3474720" cy="36576"/>
          </a:xfrm>
          <a:custGeom>
            <a:avLst/>
            <a:gdLst/>
            <a:ahLst/>
            <a:cxnLst/>
            <a:rect l="l" t="t" r="r" b="b"/>
            <a:pathLst>
              <a:path w="3474720" h="36576">
                <a:moveTo>
                  <a:pt x="0" y="0"/>
                </a:moveTo>
                <a:lnTo>
                  <a:pt x="3474720" y="0"/>
                </a:lnTo>
                <a:lnTo>
                  <a:pt x="34747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2B6CB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3840480" cy="21579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54880" y="1645920"/>
            <a:ext cx="3840480" cy="1517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核心议题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关键信息技术对国家安全的影响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掌握核心技术与经济命脉的联系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课程概览：自主可控与开源共享</a:t>
            </a:r>
            <a:endParaRPr lang="en-US" sz="1152" dirty="0"/>
          </a:p>
        </p:txBody>
      </p:sp>
      <p:sp>
        <p:nvSpPr>
          <p:cNvPr id="7" name="Shape 3"/>
          <p:cNvSpPr/>
          <p:nvPr/>
        </p:nvSpPr>
        <p:spPr>
          <a:xfrm>
            <a:off x="4754880" y="3291840"/>
            <a:ext cx="3840480" cy="914400"/>
          </a:xfrm>
          <a:custGeom>
            <a:avLst/>
            <a:gdLst/>
            <a:ahLst/>
            <a:cxnLst/>
            <a:rect l="l" t="t" r="r" b="b"/>
            <a:pathLst>
              <a:path w="3840480" h="914400">
                <a:moveTo>
                  <a:pt x="0" y="0"/>
                </a:moveTo>
                <a:lnTo>
                  <a:pt x="3840480" y="0"/>
                </a:lnTo>
                <a:lnTo>
                  <a:pt x="38404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EBF8FF"/>
          </a:solidFill>
          <a:ln/>
        </p:spPr>
      </p:sp>
      <p:sp>
        <p:nvSpPr>
          <p:cNvPr id="8" name="Text 4"/>
          <p:cNvSpPr/>
          <p:nvPr/>
        </p:nvSpPr>
        <p:spPr>
          <a:xfrm>
            <a:off x="4937760" y="3520440"/>
            <a:ext cx="3474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思考：为什么我们必须掌握核心技术？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548640" y="4572000"/>
            <a:ext cx="8046720" cy="9144"/>
          </a:xfrm>
          <a:custGeom>
            <a:avLst/>
            <a:gdLst/>
            <a:ahLst/>
            <a:cxnLst/>
            <a:rect l="l" t="t" r="r" b="b"/>
            <a:pathLst>
              <a:path w="8046720" h="9144">
                <a:moveTo>
                  <a:pt x="0" y="0"/>
                </a:moveTo>
                <a:lnTo>
                  <a:pt x="8046720" y="0"/>
                </a:lnTo>
                <a:lnTo>
                  <a:pt x="804672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E2E8F0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663440"/>
            <a:ext cx="80467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现代信息技术概论 · 第一章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核心概念：什么是自主可控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3840480" cy="27432"/>
          </a:xfrm>
          <a:custGeom>
            <a:avLst/>
            <a:gdLst/>
            <a:ahLst/>
            <a:cxnLst/>
            <a:rect l="l" t="t" r="r" b="b"/>
            <a:pathLst>
              <a:path w="3840480" h="27432">
                <a:moveTo>
                  <a:pt x="0" y="0"/>
                </a:moveTo>
                <a:lnTo>
                  <a:pt x="3840480" y="0"/>
                </a:lnTo>
                <a:lnTo>
                  <a:pt x="384048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3931920" cy="1463040"/>
          </a:xfrm>
          <a:custGeom>
            <a:avLst/>
            <a:gdLst/>
            <a:ahLst/>
            <a:cxnLst/>
            <a:rect l="l" t="t" r="r" b="b"/>
            <a:pathLst>
              <a:path w="3931920" h="1463040">
                <a:moveTo>
                  <a:pt x="0" y="0"/>
                </a:moveTo>
                <a:lnTo>
                  <a:pt x="3931920" y="0"/>
                </a:lnTo>
                <a:lnTo>
                  <a:pt x="393192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600200"/>
            <a:ext cx="356616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内涵定义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知识产权：自主拥有核心专利与代码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技术能力：具备持续研发与优化能力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发展主动：不依赖单一外部技术供应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3931920" cy="1463040"/>
          </a:xfrm>
          <a:custGeom>
            <a:avLst/>
            <a:gdLst/>
            <a:ahLst/>
            <a:cxnLst/>
            <a:rect l="l" t="t" r="r" b="b"/>
            <a:pathLst>
              <a:path w="3931920" h="1463040">
                <a:moveTo>
                  <a:pt x="0" y="0"/>
                </a:moveTo>
                <a:lnTo>
                  <a:pt x="3931920" y="0"/>
                </a:lnTo>
                <a:lnTo>
                  <a:pt x="393192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246120"/>
            <a:ext cx="356616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“受制于人”的风险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供应链断供：关键软硬件停止授权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安全漏洞：存在未知后门与监控风险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技术垄断：高额专利费与迭代受阻</a:t>
            </a:r>
            <a:endParaRPr lang="en-US" sz="1152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463040"/>
            <a:ext cx="3749040" cy="21031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846320" y="3794760"/>
            <a:ext cx="3749040" cy="777240"/>
          </a:xfrm>
          <a:custGeom>
            <a:avLst/>
            <a:gdLst/>
            <a:ahLst/>
            <a:cxnLst/>
            <a:rect l="l" t="t" r="r" b="b"/>
            <a:pathLst>
              <a:path w="3749040" h="777240">
                <a:moveTo>
                  <a:pt x="0" y="0"/>
                </a:moveTo>
                <a:lnTo>
                  <a:pt x="3749040" y="0"/>
                </a:lnTo>
                <a:lnTo>
                  <a:pt x="3749040" y="777240"/>
                </a:lnTo>
                <a:lnTo>
                  <a:pt x="0" y="777240"/>
                </a:lnTo>
                <a:close/>
              </a:path>
            </a:pathLst>
          </a:custGeom>
          <a:solidFill>
            <a:srgbClr val="DBEAFE"/>
          </a:solidFill>
          <a:ln/>
        </p:spPr>
      </p:sp>
      <p:sp>
        <p:nvSpPr>
          <p:cNvPr id="11" name="Text 7"/>
          <p:cNvSpPr/>
          <p:nvPr/>
        </p:nvSpPr>
        <p:spPr>
          <a:xfrm>
            <a:off x="5029200" y="3904488"/>
            <a:ext cx="338328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自主可控 = 底座安全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并非“封闭自守”，而是掌握生存发展的根基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现状挑战：“卡脖子”技术分析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4206240" cy="1463040"/>
          </a:xfrm>
          <a:custGeom>
            <a:avLst/>
            <a:gdLst/>
            <a:ahLst/>
            <a:cxnLst/>
            <a:rect l="l" t="t" r="r" b="b"/>
            <a:pathLst>
              <a:path w="4206240" h="1463040">
                <a:moveTo>
                  <a:pt x="0" y="0"/>
                </a:moveTo>
                <a:lnTo>
                  <a:pt x="4206240" y="0"/>
                </a:lnTo>
                <a:lnTo>
                  <a:pt x="420624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682496"/>
            <a:ext cx="384048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硬件：先进制程与装备自主化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7nm及以下先进制程芯片的产能瓶颈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EUV极紫外光刻机等核心设备技术壁垒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4206240" cy="1463040"/>
          </a:xfrm>
          <a:custGeom>
            <a:avLst/>
            <a:gdLst/>
            <a:ahLst/>
            <a:cxnLst/>
            <a:rect l="l" t="t" r="r" b="b"/>
            <a:pathLst>
              <a:path w="4206240" h="1463040">
                <a:moveTo>
                  <a:pt x="0" y="0"/>
                </a:moveTo>
                <a:lnTo>
                  <a:pt x="4206240" y="0"/>
                </a:lnTo>
                <a:lnTo>
                  <a:pt x="420624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328416"/>
            <a:ext cx="384048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软件：基础软件的外部依赖度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通用操作系统、数据库的国产替代进程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工业级EDA设计软件的底层技术缺失</a:t>
            </a:r>
            <a:endParaRPr lang="en-US" sz="1152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463040"/>
            <a:ext cx="3474720" cy="1956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3566160"/>
            <a:ext cx="3474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全球核心技术市场分布(估算)</a:t>
            </a:r>
            <a:endParaRPr lang="en-US" sz="1152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120640" y="4069080"/>
          <a:ext cx="347472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开源共享：数字世界的协作力量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645920"/>
            <a:ext cx="384048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开源定义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：源代码公开，允许全球用户自由获取、修改与二次分发。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核心价值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：通过社区协作集结全球智慧，加速技术创新与迭代。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371600"/>
            <a:ext cx="3840480" cy="21579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926080"/>
            <a:ext cx="38404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：站在巨人的肩膀上，是实现技术自主与科技自立的重要途径。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548640" y="3794760"/>
            <a:ext cx="80467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典型的开源生态项目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548640" y="4251960"/>
            <a:ext cx="2468880" cy="548640"/>
          </a:xfrm>
          <a:custGeom>
            <a:avLst/>
            <a:gdLst/>
            <a:ahLst/>
            <a:cxnLst/>
            <a:rect l="l" t="t" r="r" b="b"/>
            <a:pathLst>
              <a:path w="2468880" h="548640">
                <a:moveTo>
                  <a:pt x="0" y="0"/>
                </a:moveTo>
                <a:lnTo>
                  <a:pt x="2468880" y="0"/>
                </a:lnTo>
                <a:lnTo>
                  <a:pt x="246888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4315968"/>
            <a:ext cx="22860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Linux 内核</a:t>
            </a:r>
            <a:endParaRPr lang="en-US" sz="1152" dirty="0"/>
          </a:p>
        </p:txBody>
      </p:sp>
      <p:sp>
        <p:nvSpPr>
          <p:cNvPr id="11" name="Shape 7"/>
          <p:cNvSpPr/>
          <p:nvPr/>
        </p:nvSpPr>
        <p:spPr>
          <a:xfrm>
            <a:off x="3200400" y="4251960"/>
            <a:ext cx="2468880" cy="548640"/>
          </a:xfrm>
          <a:custGeom>
            <a:avLst/>
            <a:gdLst/>
            <a:ahLst/>
            <a:cxnLst/>
            <a:rect l="l" t="t" r="r" b="b"/>
            <a:pathLst>
              <a:path w="2468880" h="548640">
                <a:moveTo>
                  <a:pt x="0" y="0"/>
                </a:moveTo>
                <a:lnTo>
                  <a:pt x="2468880" y="0"/>
                </a:lnTo>
                <a:lnTo>
                  <a:pt x="246888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2" name="Text 8"/>
          <p:cNvSpPr/>
          <p:nvPr/>
        </p:nvSpPr>
        <p:spPr>
          <a:xfrm>
            <a:off x="3291840" y="4315968"/>
            <a:ext cx="22860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 操作系统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5852160" y="4251960"/>
            <a:ext cx="2468880" cy="548640"/>
          </a:xfrm>
          <a:custGeom>
            <a:avLst/>
            <a:gdLst/>
            <a:ahLst/>
            <a:cxnLst/>
            <a:rect l="l" t="t" r="r" b="b"/>
            <a:pathLst>
              <a:path w="2468880" h="548640">
                <a:moveTo>
                  <a:pt x="0" y="0"/>
                </a:moveTo>
                <a:lnTo>
                  <a:pt x="2468880" y="0"/>
                </a:lnTo>
                <a:lnTo>
                  <a:pt x="246888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4" name="Text 10"/>
          <p:cNvSpPr/>
          <p:nvPr/>
        </p:nvSpPr>
        <p:spPr>
          <a:xfrm>
            <a:off x="5943600" y="4315968"/>
            <a:ext cx="22860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RISC-V 指令集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A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开源协议与法律保障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1097280" cy="45720"/>
          </a:xfrm>
          <a:custGeom>
            <a:avLst/>
            <a:gdLst/>
            <a:ahLst/>
            <a:cxnLst/>
            <a:rect l="l" t="t" r="r" b="b"/>
            <a:pathLst>
              <a:path w="1097280" h="45720">
                <a:moveTo>
                  <a:pt x="0" y="0"/>
                </a:moveTo>
                <a:lnTo>
                  <a:pt x="1097280" y="0"/>
                </a:lnTo>
                <a:lnTo>
                  <a:pt x="1097280" y="45720"/>
                </a:lnTo>
                <a:lnTo>
                  <a:pt x="0" y="4572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71600"/>
            <a:ext cx="80467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主流开源许可协议的核心约束对比</a:t>
            </a:r>
            <a:endParaRPr lang="en-US" sz="1152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8046720" cy="2011680"/>
        </p:xfrm>
        <a:graphic>
          <a:graphicData uri="http://schemas.openxmlformats.org/drawingml/2006/table">
            <a:tbl>
              <a:tblPr/>
              <a:tblGrid>
                <a:gridCol w="1207008"/>
                <a:gridCol w="1609344"/>
                <a:gridCol w="3621024"/>
                <a:gridCol w="1609344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协议类型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商用限制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衍生作品分发约束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署名权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GPL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允许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必须以GPL协议开源 (传染性)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必须署名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允许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需保留版权声明与免责声明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必须署名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允许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极度宽松，仅需附带协议副本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必须署名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206240"/>
            <a:ext cx="8046720" cy="640080"/>
          </a:xfrm>
          <a:custGeom>
            <a:avLst/>
            <a:gdLst/>
            <a:ahLst/>
            <a:cxnLst/>
            <a:rect l="l" t="t" r="r" b="b"/>
            <a:pathLst>
              <a:path w="8046720" h="640080">
                <a:moveTo>
                  <a:pt x="0" y="0"/>
                </a:moveTo>
                <a:lnTo>
                  <a:pt x="8046720" y="0"/>
                </a:lnTo>
                <a:lnTo>
                  <a:pt x="804672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4261104"/>
            <a:ext cx="76809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尊重知识产权是参与开源共享、实现科技自立自强的法治前提。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548640" y="4206240"/>
            <a:ext cx="36576" cy="640080"/>
          </a:xfrm>
          <a:custGeom>
            <a:avLst/>
            <a:gdLst/>
            <a:ahLst/>
            <a:cxnLst/>
            <a:rect l="l" t="t" r="r" b="b"/>
            <a:pathLst>
              <a:path w="36576" h="640080">
                <a:moveTo>
                  <a:pt x="0" y="0"/>
                </a:moveTo>
                <a:lnTo>
                  <a:pt x="36576" y="0"/>
                </a:lnTo>
                <a:lnTo>
                  <a:pt x="36576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E40A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辩证关系：自主可控与开源的融合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4754880" cy="36576"/>
          </a:xfrm>
          <a:custGeom>
            <a:avLst/>
            <a:gdLst/>
            <a:ahLst/>
            <a:cxnLst/>
            <a:rect l="l" t="t" r="r" b="b"/>
            <a:pathLst>
              <a:path w="4754880" h="36576">
                <a:moveTo>
                  <a:pt x="0" y="0"/>
                </a:moveTo>
                <a:lnTo>
                  <a:pt x="4754880" y="0"/>
                </a:lnTo>
                <a:lnTo>
                  <a:pt x="47548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371600"/>
            <a:ext cx="3931920" cy="914400"/>
          </a:xfrm>
          <a:custGeom>
            <a:avLst/>
            <a:gdLst/>
            <a:ahLst/>
            <a:cxnLst/>
            <a:rect l="l" t="t" r="r" b="b"/>
            <a:pathLst>
              <a:path w="3931920" h="914400">
                <a:moveTo>
                  <a:pt x="0" y="0"/>
                </a:moveTo>
                <a:lnTo>
                  <a:pt x="3931920" y="0"/>
                </a:lnTo>
                <a:lnTo>
                  <a:pt x="39319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FF1F2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81328"/>
            <a:ext cx="35661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“拿来主义”的误区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开源并不等于自主可控。必须警惕底层技术依赖与供应链受限风险。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3931920" cy="1005840"/>
          </a:xfrm>
          <a:custGeom>
            <a:avLst/>
            <a:gdLst/>
            <a:ahLst/>
            <a:cxnLst/>
            <a:rect l="l" t="t" r="r" b="b"/>
            <a:pathLst>
              <a:path w="3931920" h="1005840">
                <a:moveTo>
                  <a:pt x="0" y="0"/>
                </a:moveTo>
                <a:lnTo>
                  <a:pt x="3931920" y="0"/>
                </a:lnTo>
                <a:lnTo>
                  <a:pt x="393192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624328"/>
            <a:ext cx="35661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掌握主导权的路径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通过深度定制开发、积极回馈社区以及参与贡献标准，实现从“使用”到“主导”的跨越。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3931920" cy="914400"/>
          </a:xfrm>
          <a:custGeom>
            <a:avLst/>
            <a:gdLst/>
            <a:ahLst/>
            <a:cxnLst/>
            <a:rect l="l" t="t" r="r" b="b"/>
            <a:pathLst>
              <a:path w="3931920" h="914400">
                <a:moveTo>
                  <a:pt x="0" y="0"/>
                </a:moveTo>
                <a:lnTo>
                  <a:pt x="3931920" y="0"/>
                </a:lnTo>
                <a:lnTo>
                  <a:pt x="39319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ECFDF5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767328"/>
            <a:ext cx="35661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案例：RISC-V 架构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利用开源指令集优势，加速国产芯片群体突破，构建独立于传统巨头的技术生态。</a:t>
            </a:r>
            <a:endParaRPr lang="en-US" sz="1152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371600"/>
            <a:ext cx="3840480" cy="21579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657600"/>
            <a:ext cx="38404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i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融合开源生态是实现高水平科技自立自强的关键路径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297680"/>
            <a:ext cx="8046720" cy="548640"/>
          </a:xfrm>
          <a:custGeom>
            <a:avLst/>
            <a:gdLst/>
            <a:ahLst/>
            <a:cxnLst/>
            <a:rect l="l" t="t" r="r" b="b"/>
            <a:pathLst>
              <a:path w="8046720" h="548640">
                <a:moveTo>
                  <a:pt x="0" y="0"/>
                </a:moveTo>
                <a:lnTo>
                  <a:pt x="8046720" y="0"/>
                </a:lnTo>
                <a:lnTo>
                  <a:pt x="804672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4" name="Shape 1"/>
          <p:cNvSpPr/>
          <p:nvPr/>
        </p:nvSpPr>
        <p:spPr>
          <a:xfrm>
            <a:off x="4846320" y="1463040"/>
            <a:ext cx="3840480" cy="2240280"/>
          </a:xfrm>
          <a:custGeom>
            <a:avLst/>
            <a:gdLst/>
            <a:ahLst/>
            <a:cxnLst/>
            <a:rect l="l" t="t" r="r" b="b"/>
            <a:pathLst>
              <a:path w="3840480" h="2240280">
                <a:moveTo>
                  <a:pt x="0" y="0"/>
                </a:moveTo>
                <a:lnTo>
                  <a:pt x="3840480" y="0"/>
                </a:lnTo>
                <a:lnTo>
                  <a:pt x="3840480" y="2240280"/>
                </a:lnTo>
                <a:lnTo>
                  <a:pt x="0" y="2240280"/>
                </a:lnTo>
                <a:close/>
              </a:path>
            </a:pathLst>
          </a:custGeom>
          <a:solidFill>
            <a:srgbClr val="DBEAF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17320"/>
            <a:ext cx="36576" cy="438912"/>
          </a:xfrm>
          <a:custGeom>
            <a:avLst/>
            <a:gdLst/>
            <a:ahLst/>
            <a:cxnLst/>
            <a:rect l="l" t="t" r="r" b="b"/>
            <a:pathLst>
              <a:path w="36576" h="438912">
                <a:moveTo>
                  <a:pt x="0" y="0"/>
                </a:moveTo>
                <a:lnTo>
                  <a:pt x="36576" y="0"/>
                </a:lnTo>
                <a:lnTo>
                  <a:pt x="36576" y="438912"/>
                </a:lnTo>
                <a:lnTo>
                  <a:pt x="0" y="438912"/>
                </a:ln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788920"/>
            <a:ext cx="36576" cy="438912"/>
          </a:xfrm>
          <a:custGeom>
            <a:avLst/>
            <a:gdLst/>
            <a:ahLst/>
            <a:cxnLst/>
            <a:rect l="l" t="t" r="r" b="b"/>
            <a:pathLst>
              <a:path w="36576" h="438912">
                <a:moveTo>
                  <a:pt x="0" y="0"/>
                </a:moveTo>
                <a:lnTo>
                  <a:pt x="36576" y="0"/>
                </a:lnTo>
                <a:lnTo>
                  <a:pt x="36576" y="438912"/>
                </a:lnTo>
                <a:lnTo>
                  <a:pt x="0" y="438912"/>
                </a:ln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143000"/>
            <a:ext cx="2926080" cy="0"/>
          </a:xfrm>
          <a:custGeom>
            <a:avLst/>
            <a:gdLst/>
            <a:ahLst/>
            <a:cxnLst/>
            <a:rect l="l" t="t" r="r" b="b"/>
            <a:pathLst>
              <a:path w="2926080" h="0">
                <a:moveTo>
                  <a:pt x="0" y="0"/>
                </a:moveTo>
                <a:lnTo>
                  <a:pt x="2926080" y="0"/>
                </a:lnTo>
              </a:path>
            </a:pathLst>
          </a:custGeom>
          <a:noFill/>
          <a:ln w="27432">
            <a:solidFill>
              <a:srgbClr val="1E40AF"/>
            </a:solidFill>
            <a:prstDash val="solid"/>
            <a:headEnd type="none"/>
            <a:tailEnd type="none"/>
          </a:ln>
        </p:spPr>
      </p:sp>
      <p:sp>
        <p:nvSpPr>
          <p:cNvPr id="8" name="Text 5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总结与未来：迈向科技自立自强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685800" y="1371600"/>
            <a:ext cx="37033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知识回顾：从定义到实践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685800" y="1920240"/>
            <a:ext cx="37033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核心技术原理与安全概念梳理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信息安全防范的闭环实践应用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685800" y="2743200"/>
            <a:ext cx="37033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未来展望：掌握数字主权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685800" y="3291840"/>
            <a:ext cx="37033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核心技术自主可控的战略高度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万物互联时代的网络疆域安全</a:t>
            </a:r>
            <a:endParaRPr lang="en-US" sz="1152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554480"/>
            <a:ext cx="3657600" cy="2057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" y="4334256"/>
            <a:ext cx="76809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科技自立，吾辈自强：在信息化浪潮中捍卫数字疆土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2026-04-10T13:29:32Z</dcterms:created>
  <dcterms:modified xsi:type="dcterms:W3CDTF">2026-04-10T13:29:32Z</dcterms:modified>
</cp:coreProperties>
</file>