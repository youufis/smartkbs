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皮肤癌检测</c:v>
                  </c:pt>
                  <c:pt idx="1">
                    <c:v>肺结节识别</c:v>
                  </c:pt>
                  <c:pt idx="2">
                    <c:v>病理分析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93</c:v>
                </c:pt>
                <c:pt idx="2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皮肤癌检测</c:v>
                  </c:pt>
                  <c:pt idx="1">
                    <c:v>肺结节识别</c:v>
                  </c:pt>
                  <c:pt idx="2">
                    <c:v>病理分析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86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大家好，欢迎来到《人工智能：从实验室走向现实世界》的主题课堂，我是林老师。今天我们将开启一段激动人心的旅程，一起见证AI如何从理论研究转化为改变各行各业的实际应用。
首先，我们要关注的是技术层面的演进。AI并不是一夜之间出现的，它经历了一个漫长的蜕变。
大家看，核心驱动力来自于三个维度的叠加：算力的迭代升级、算法的不断优化，以及海量数据的爆发。这使得AI完成了从传统的逻辑推理到现代深度学习的范式跨越，让机器真正具备了处理复杂问题的能力。
而这种能力的跨越，最直接的体现就在于它对千行百业的赋能。AI已经不再是实验室里的公式，它已经成为了前沿应用的引擎。
比如在智慧医疗领域，AI能辅助医生更精准地诊断疾病；在智慧交通和科学发现中，它正以前所未有的速度推动效率提升。甚至在我们熟悉的内容创作领域，AI也在重塑生产力。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刚才我们提到了人工智能在各领域的广泛应用，现在让我们深入探讨其中最核心的能力之一：计算机视觉。简单来说，它就像是赋予了机器一双“眼睛”，让它们能够像人类一样观测并理解物理世界。
在医疗领域，这项技术正在引发一场变革。AI辅助医生识别早期肿瘤，不仅大大提升了病理切片分析的速度，更在精度上提供了重要的参考。这对于提高早筛成功率具有至关重要的意义。
大家可以看这张准确率对比图。在特定医学影像任务中，AI的表现已经能够与资深专家并驾齐驱，甚至在某些高强度疲劳环境下表现得更为稳定。这种人机协作的模式正在成为医疗诊断的新常态。
除了医疗，自动驾驶是另一个极具代表性的战场。依托多传感器融合技术，系统能实时感知复杂的交通环境，让车辆像人类老司机一样做出安全、敏捷的驾驶决策。
展望未来，计算机视觉正从单纯的“看清特征”向“深度场景语义理解”进化。这意味着机器不仅能看到路上的行人，还能理解行人的意图。接下来，我们将通过一些互动，来看看大家对这些核心应用场景的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刚才我们讨论了计算机视觉如何赋予机器“眼睛”，现在让我们更进一步。如果说视觉是感知，那么自然语言处理（NLP）就是赋予机器理解与表达灵魂的技术，它正在深刻重塑我们的沟通与创作方式。
请看这里的核心原理。目前的突破主要归功于Transformer架构和词向量技术。简单来说，它将文字转化为高维数学空间的向量，让机器不仅能处理字符，更能捕捉上下文的微妙语境。基于此，实时翻译、创意写作和智能助手才变得如此流畅。
在这种新范式下，我们与AI的协作方式也发生了巨变。大家请关注“Prompt工程”这个词，它就像是开启AI能力的指令钥匙。学会如何精准地给大模型下达提示词，已经成为内容产出者的必备技能。
总结这一技术趋势，我们正在经历从“信息检索”到“知识理解与内容创造”的跨越。以前我们只是在海量库里搜现有的答案，而现在，AI正在根据你的逻辑去创造全新的知识内容。这种从0到1的生成能力，正是生成式AI的核心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刚才我们亲手拆解了卷积神经网络是如何工作的，这种强大的模式识别能力不仅能识别手写数字，现在正以前所未有的速度跨界到生物、材料、气象等基础科学领域。这就是我们本节课的核心话题：AI for Science。
首先看生物学领域的重大突破——AlphaFold 3。它彻底破解了困扰人类半个世纪的蛋白质结构预测难题。过去科学家可能需要几年甚至一辈子的实验来确定的结构，现在AI只需几分钟。
为了让大家直观感受这种科学模拟的过程，我们来看一段演示视频。
除了生物，AI还在实验室里筛选新型电池电解质。比如宇轩你关注的清洁能源，AI可以从数百万种化合物中精准找出最高效的那几种。而在气象领域，深度学习模型对极端天气的预报也比传统物理模型更加迅速。
这一切带来的最显著改变就是科研效率的量级提升。思曼之前记过不少数据，而这里的数据最令人震撼：研发周期正从“数年”缩短至“数天”。AI不是在替代科学家，而是在为科学家装备一把超强倍率的“显微镜”和“加速器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刚刚我们复习了AI在语言和科学领域的应用，那些更像是AI的“大脑”。现在，我们要聊聊如何让AI真正“动”起来，这就是本节课的核心概念——具身智能。
简单来说，具身智能就是将AI“大脑”装入机器“躯体”。它不再只是屏幕里的字符，而是能像人一样感知物理世界、并在这个世界中采取行动的实体。
在工业界，这种技术正在引发革命。传统的工业机器人只能重复固定的流水线动作，而具身智能让它们具备了自适应协作能力，能根据环境变化自动调整操作逻辑。
大家看这张图，展示了机器人在复杂家居环境中的精细操作。这正是具身智能最迷人的地方：让机器人在非标准化的家庭环境中，也能精准地感知并执行任务。
比如在家庭服务中，机器人需要实时判断障碍物、识别物体材质，这对AI的感知和决策提出了极高的要求。
当然，目前的挑战依然巨大。物理世界的复杂性远超模拟环境，如何在动态变化中保持毫秒级的实时反应，是科学家们正在攻克的难关。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正如我们刚才提到的，AI正从实验室走向复杂的物理世界，而这也意味着它将直接碰撞我们的社会结构。现在，我们需要探讨一个至关重要的话题：AI带来的伦理、安全与责任挑战。
首先是数据隐私问题。我们在本节课前面讨论过大模型的训练需要海量数据，但这其中往往涉及个人敏感信息。如何在享受模型带来的便利与保护隐私之间找到平衡，是目前全球技术社区都在攻克的难题。
其次，算法偏见不容忽视。如果训练数据本身带有社会偏见，AI的决策可能会在招聘、司法等领域放大不公，因此透明度与公平性成为了算法设计的底线。
此外，大家可能都听说过深度伪造技术。当AI可以完美还原人的面孔和声音时，虚假信息引发的信任危机，正考验着我们的信息鉴别能力和社会治理智慧。
面对这些前沿挑战，我们的核心目标始终是：通过负责任的治理与法规建设，构建一个安全、可信的智能社会，让技术真正服务于人类的进步。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通过刚才对伦理与安全挑战的探讨，我们更清晰地认识到，AI不仅是技术课题，更是人类文明的新篇章。现在，让我们进入本次课程的结语：迈向人机共生的未来。
回顾我们今天学习的从计算机视觉到具身智能的所有内容，大家要记住，AI的核心角色是‘能力的放大器’。它并非要取代人类，而是要将我们从繁琐的计算中解放出来，去探索更深邃的科学奥秘。
在这个时代，‘共同进化’是我们唯一的选择。我们需要践行终身学习的成长思维，像我们刚才提到的‘AI for Science’一样，主动拥抱技术带来的变革，同时在波澜壮阔的技术浪潮中，始终坚守我们的人文底色。
通用人工智能的曙光已经在远方地平线上升起。虽然前方仍有未知的挑战，但只要我们保持理性和责任感，人机共生的未来将充满无限可能。
最后，用这句话与大家共勉：‘未来已来，唯变不变。’保持好奇，与时代同行。谢谢大家的聆听，今天的课程到此结束，但在AI世界的探索才刚刚开始。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人工智能：从实验室走向现实世界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931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技术演进与核心要素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2029968"/>
            <a:ext cx="39319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范式演进：逻辑推理至深度学习的跨越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核心驱动：算力迭代、算法优化与海量数据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54480"/>
            <a:ext cx="3749040" cy="21122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84048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前沿应用概览：AI赋能千行百业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389120"/>
            <a:ext cx="1874520" cy="475488"/>
          </a:xfrm>
          <a:custGeom>
            <a:avLst/>
            <a:gdLst/>
            <a:ahLst/>
            <a:cxnLst/>
            <a:rect l="l" t="t" r="r" b="b"/>
            <a:pathLst>
              <a:path w="1874520" h="475488">
                <a:moveTo>
                  <a:pt x="0" y="0"/>
                </a:moveTo>
                <a:lnTo>
                  <a:pt x="1874520" y="0"/>
                </a:lnTo>
                <a:lnTo>
                  <a:pt x="18745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416552"/>
            <a:ext cx="1691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智慧医疗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2606040" y="4389120"/>
            <a:ext cx="1874520" cy="475488"/>
          </a:xfrm>
          <a:custGeom>
            <a:avLst/>
            <a:gdLst/>
            <a:ahLst/>
            <a:cxnLst/>
            <a:rect l="l" t="t" r="r" b="b"/>
            <a:pathLst>
              <a:path w="1874520" h="475488">
                <a:moveTo>
                  <a:pt x="0" y="0"/>
                </a:moveTo>
                <a:lnTo>
                  <a:pt x="1874520" y="0"/>
                </a:lnTo>
                <a:lnTo>
                  <a:pt x="18745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2" name="Text 8"/>
          <p:cNvSpPr/>
          <p:nvPr/>
        </p:nvSpPr>
        <p:spPr>
          <a:xfrm>
            <a:off x="2697480" y="4416552"/>
            <a:ext cx="1691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智慧交通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663440" y="4389120"/>
            <a:ext cx="1874520" cy="475488"/>
          </a:xfrm>
          <a:custGeom>
            <a:avLst/>
            <a:gdLst/>
            <a:ahLst/>
            <a:cxnLst/>
            <a:rect l="l" t="t" r="r" b="b"/>
            <a:pathLst>
              <a:path w="1874520" h="475488">
                <a:moveTo>
                  <a:pt x="0" y="0"/>
                </a:moveTo>
                <a:lnTo>
                  <a:pt x="1874520" y="0"/>
                </a:lnTo>
                <a:lnTo>
                  <a:pt x="18745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0" y="4416552"/>
            <a:ext cx="1691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科学发现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6720840" y="4389120"/>
            <a:ext cx="1874520" cy="475488"/>
          </a:xfrm>
          <a:custGeom>
            <a:avLst/>
            <a:gdLst/>
            <a:ahLst/>
            <a:cxnLst/>
            <a:rect l="l" t="t" r="r" b="b"/>
            <a:pathLst>
              <a:path w="1874520" h="475488">
                <a:moveTo>
                  <a:pt x="0" y="0"/>
                </a:moveTo>
                <a:lnTo>
                  <a:pt x="1874520" y="0"/>
                </a:lnTo>
                <a:lnTo>
                  <a:pt x="18745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5F3FF"/>
          </a:solidFill>
          <a:ln/>
        </p:spPr>
      </p:sp>
      <p:sp>
        <p:nvSpPr>
          <p:cNvPr id="16" name="Text 12"/>
          <p:cNvSpPr/>
          <p:nvPr/>
        </p:nvSpPr>
        <p:spPr>
          <a:xfrm>
            <a:off x="6812280" y="4416552"/>
            <a:ext cx="1691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计算机视觉：医疗诊断与自动驾驶的前沿突破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医疗AI：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辅助医生识别早期肿瘤，提升病理切片分析的速度与精度。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自动驾驶：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依托多传感器融合技术，实现对复杂环境的实时感知。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65176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AI与人类专家在特定医学影像任务中的准确率对比</a:t>
            </a:r>
            <a:endParaRPr lang="en-US" sz="1152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3108960"/>
          <a:ext cx="3840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4"/>
          <p:cNvSpPr/>
          <p:nvPr/>
        </p:nvSpPr>
        <p:spPr>
          <a:xfrm>
            <a:off x="4754880" y="379476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5"/>
          <p:cNvSpPr/>
          <p:nvPr/>
        </p:nvSpPr>
        <p:spPr>
          <a:xfrm>
            <a:off x="4937760" y="390448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未来趋势：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从感知环境基础特征迈向深度场景语义理解</a:t>
            </a:r>
            <a:endParaRPr lang="en-US" sz="1152" dirty="0"/>
          </a:p>
        </p:txBody>
      </p:sp>
      <p:sp>
        <p:nvSpPr>
          <p:cNvPr id="11" name="Shape 6"/>
          <p:cNvSpPr/>
          <p:nvPr/>
        </p:nvSpPr>
        <p:spPr>
          <a:xfrm>
            <a:off x="4754880" y="3794760"/>
            <a:ext cx="45720" cy="914400"/>
          </a:xfrm>
          <a:custGeom>
            <a:avLst/>
            <a:gdLst/>
            <a:ahLst/>
            <a:cxnLst/>
            <a:rect l="l" t="t" r="r" b="b"/>
            <a:pathLst>
              <a:path w="45720" h="914400">
                <a:moveTo>
                  <a:pt x="0" y="0"/>
                </a:moveTo>
                <a:lnTo>
                  <a:pt x="45720" y="0"/>
                </a:lnTo>
                <a:lnTo>
                  <a:pt x="45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D7D3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自然语言处理：重塑沟通与创作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389120" cy="36576"/>
          </a:xfrm>
          <a:custGeom>
            <a:avLst/>
            <a:gdLst/>
            <a:ahLst/>
            <a:cxnLst/>
            <a:rect l="l" t="t" r="r" b="b"/>
            <a:pathLst>
              <a:path w="4389120" h="36576">
                <a:moveTo>
                  <a:pt x="0" y="0"/>
                </a:moveTo>
                <a:lnTo>
                  <a:pt x="4389120" y="0"/>
                </a:lnTo>
                <a:lnTo>
                  <a:pt x="43891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420624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核心原理：Transformer 架构与词向量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多维应用：实时翻译、创作与助手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协作范式：提示词 (Prompt) 工程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产业现状：生成式 AI 赋能内容生产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657600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8046720" cy="822960"/>
          </a:xfrm>
          <a:custGeom>
            <a:avLst/>
            <a:gdLst/>
            <a:ahLst/>
            <a:cxnLst/>
            <a:rect l="l" t="t" r="r" b="b"/>
            <a:pathLst>
              <a:path w="8046720" h="822960">
                <a:moveTo>
                  <a:pt x="0" y="0"/>
                </a:moveTo>
                <a:lnTo>
                  <a:pt x="8046720" y="0"/>
                </a:lnTo>
                <a:lnTo>
                  <a:pt x="8046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023360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从信息的简单检索，进化为知识的理解与内容创造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384048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for Science：加速科学发现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4389120" cy="2468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023360"/>
            <a:ext cx="43891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AlphaFold 3：AI破解蛋白质结构预测难题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303520" y="1463040"/>
            <a:ext cx="3291840" cy="914400"/>
          </a:xfrm>
          <a:custGeom>
            <a:avLst/>
            <a:gdLst/>
            <a:ahLst/>
            <a:cxnLst/>
            <a:rect l="l" t="t" r="r" b="b"/>
            <a:pathLst>
              <a:path w="3291840" h="914400">
                <a:moveTo>
                  <a:pt x="0" y="0"/>
                </a:moveTo>
                <a:lnTo>
                  <a:pt x="3291840" y="0"/>
                </a:lnTo>
                <a:lnTo>
                  <a:pt x="329184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0" y="157276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新材料研发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利用AI筛选电池电解质与新型催化剂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303520" y="2560320"/>
            <a:ext cx="3291840" cy="914400"/>
          </a:xfrm>
          <a:custGeom>
            <a:avLst/>
            <a:gdLst/>
            <a:ahLst/>
            <a:cxnLst/>
            <a:rect l="l" t="t" r="r" b="b"/>
            <a:pathLst>
              <a:path w="3291840" h="914400">
                <a:moveTo>
                  <a:pt x="0" y="0"/>
                </a:moveTo>
                <a:lnTo>
                  <a:pt x="3291840" y="0"/>
                </a:lnTo>
                <a:lnTo>
                  <a:pt x="329184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0" y="267004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气象预测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深度学习模型在极端天气预报中的应用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5303520" y="3657600"/>
            <a:ext cx="3291840" cy="914400"/>
          </a:xfrm>
          <a:custGeom>
            <a:avLst/>
            <a:gdLst/>
            <a:ahLst/>
            <a:cxnLst/>
            <a:rect l="l" t="t" r="r" b="b"/>
            <a:pathLst>
              <a:path w="3291840" h="914400">
                <a:moveTo>
                  <a:pt x="0" y="0"/>
                </a:moveTo>
                <a:lnTo>
                  <a:pt x="3291840" y="0"/>
                </a:lnTo>
                <a:lnTo>
                  <a:pt x="329184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0" y="376732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科研效率提升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研发周期从“数年”缩短至“数天”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具身智能：赋予AI行动力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1097280" cy="45720"/>
          </a:xfrm>
          <a:custGeom>
            <a:avLst/>
            <a:gdLst/>
            <a:ahLst/>
            <a:cxnLst/>
            <a:rect l="l" t="t" r="r" b="b"/>
            <a:pathLst>
              <a:path w="1097280" h="45720">
                <a:moveTo>
                  <a:pt x="0" y="0"/>
                </a:moveTo>
                <a:lnTo>
                  <a:pt x="1097280" y="0"/>
                </a:lnTo>
                <a:lnTo>
                  <a:pt x="1097280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64008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45336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核心定义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：将AI“大脑”装入机器“躯体”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931920" cy="64008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22576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工业机器人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：从流水线到自适应协作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931920" cy="64008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099816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家庭服务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：感知家居环境并执行复杂任务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3931920" cy="64008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877056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核心挑战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：物理世界复杂性与实时反应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3749040" cy="21122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657600"/>
            <a:ext cx="37490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图：具身智能机器人在复杂家居环境中的精细操作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前沿挑战：伦理、安全与责任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657600" cy="0"/>
          </a:xfrm>
          <a:custGeom>
            <a:avLst/>
            <a:gdLst/>
            <a:ahLst/>
            <a:cxnLst/>
            <a:rect l="l" t="t" r="r" b="b"/>
            <a:pathLst>
              <a:path w="3657600" h="0">
                <a:moveTo>
                  <a:pt x="0" y="0"/>
                </a:moveTo>
                <a:lnTo>
                  <a:pt x="3657600" y="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548640" y="1463040"/>
            <a:ext cx="4023360" cy="21214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：模型训练中的隐私保护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算法偏见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：决策的公平性与透明度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深度伪造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：虚假信息与信任危机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负责任AI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：全球治理法规与共识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54880" y="384048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4014216"/>
            <a:ext cx="3474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核心目标：构建安全、可信的智能社会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681728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结语：迈向人机共生的未来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32588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3657600" cy="2468880"/>
          </a:xfrm>
          <a:custGeom>
            <a:avLst/>
            <a:gdLst/>
            <a:ahLst/>
            <a:cxnLst/>
            <a:rect l="l" t="t" r="r" b="b"/>
            <a:pathLst>
              <a:path w="3657600" h="2468880">
                <a:moveTo>
                  <a:pt x="0" y="0"/>
                </a:moveTo>
                <a:lnTo>
                  <a:pt x="3657600" y="0"/>
                </a:lnTo>
                <a:lnTo>
                  <a:pt x="3657600" y="2468880"/>
                </a:lnTo>
                <a:lnTo>
                  <a:pt x="0" y="24688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157984"/>
            <a:ext cx="329184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能力增强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：AI是人类能力的放大器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共同进化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：践行终身学习的成长思维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人文底色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：在技术浪潮中坚守价值观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：迎接通用人工智能的曙光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645920"/>
            <a:ext cx="438912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38912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452628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i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未来已来，唯变不变。保持好奇，与时代同行。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2026-04-10T12:09:41Z</dcterms:created>
  <dcterms:modified xsi:type="dcterms:W3CDTF">2026-04-10T12:09:41Z</dcterms:modified>
</cp:coreProperties>
</file>