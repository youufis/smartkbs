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2022</c:v>
                  </c:pt>
                  <c:pt idx="4">
                    <c:v>2024E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55</c:v>
                </c:pt>
                <c:pt idx="2">
                  <c:v>140</c:v>
                </c:pt>
                <c:pt idx="3">
                  <c:v>380</c:v>
                </c:pt>
                <c:pt idx="4">
                  <c:v>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大家好，我是林老师。很高兴能和大家一起开启这门关于算力的新课程。在数字经济时代，如果说农业时代的生产力是人力和畜力，工业时代是电力，那么今天我们要聊的“算力”，就是数字世界的核心生产力。
那么算力到底是什么呢？简单来说，它就是计算机处理数据、运行算法的核心能力。无论是大家常用的手机APP，还是复杂的AI模型训练，背后都离不开算力的支撑。它是驱动大数据和云计算的基础动力。
我们要如何衡量算力的大小呢？这里有一个专业单位叫 FLOPS，代表每秒浮点运算次数。你可以把它想象成赛车的“马力”，数值越高，代表计算机的“引擎”越强劲，处理信息的速度也就越快。
请大家看这张柱状图，它展示了近十年全球算力需求的增长趋势。可以看到，随着人工智能的发展，需求呈现出一种爆发式的指数增长。这种增长速度意味着，我们对计算资源的需求正变得前所未有的迫切。
正是因为这种爆发式的需求，单靠增加硬件往往跟不上节奏。这就引出了我们后续要讨论的核心话题：我们该如何更高效地管理和分配这些算力？接下来，让我们一起探讨“算力共享”的必要性。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刚才我们谈到了算力是数字世界的生产力，但现在面临一个尴尬的局面：需求在爆炸，可生产力的分布却极不均衡。那么，我们为什么非要走“算力共享”这条路呢？
首先看第一点：严重的供需失衡。现在的尖端AI模型就像是“吞金兽”，对算力的渴求几乎是无止境的，但顶级芯片的动辄数万美金的成本，让很多开发者望而却步。这造成了技术上的贫富差距。
与此相对的是，我们手里的个人电脑、甚至是闲置的智能设备，在全球范围内有数以亿计。它们在大部分时间里，其强大的计算潜力其实是在“睡觉”的，这就是资源闲置。
小助，帮大家调出这份算力资源利用率的对比分析。我们要用数据说话。
大家请看这张表。数据中心的利用率虽然高，但建设周期长、维护成本贵；而我们身边的边缘设备，利用率往往极低。算力共享的本质，就是打破这些“算力孤岛”，把闲散的力量汇聚成大海，实现资源的高效配置。
就像雅婷平时思考的，这种共享不仅仅是技术问题，更是分配的艺术。那么，我们如何才能像使用自来水和电一样，随时随地接入这些共享的算力呢？这就要引出我们要讲的下一个概念了。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刚才雅婷提到了分配的艺术，而解决分配和接入最完美的模型，其实就在我们身边——那就是电力网。我们要聊的就是这个‘算力网’的概念：像用电一样使用算力。
大家回想一下，在电力网普及之前，工厂得自备发电机，不仅成本高而且维护难。这就像我们现在许多企业还得自己买服务器、搭机房。算力网的愿景，就是完成从分散的‘自家发电机’向社会化‘公共电网’的必然跨越。
要实现这一点，核心技术就是‘算力池化’。不管底层是哪种芯片、哪个厂家的硬件，通过池化技术，它们都被整合成了一个巨大的虚拟统一资源池，彻底屏蔽了底层硬件的差异。
对于我们用户来说，最直观的感受就是‘即插即用’。你不需要关注背后的硬件逻辑，只需要按需订阅。就像强强你回家开灯，不需要关心电是怎么发出来的，只要按下开关，光就亮了，这种便捷性是算力网络追求的终极体验。
而且，这种集中共享的模式非常环保。通过绿色算力枢纽的统一调度，能大幅提高能效比，优化资源利用。这不仅是为了效率，更是为了通过共享来降低整体的碳排放，实现可持续发展。
大家看这张对比图，电力网的演进路径正是算力网最好的老师。那么，如果未来算力真的像电一样随取随用，这会如何改变我们开发AI模型或者使用智能设备的方式呢？强强，作为科技迷，你对这种‘算力自由’的未来有什么畅想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刚才通过知识检测，大家对算力基础已经有了不错的掌握。那么，要把散落在各地的闲置算力真正凝聚起来，到底需要哪些核心技术的支撑呢？这就是我们现在要探讨的四大技术支柱。
第一根支柱是虚拟化与容器技术。大家可以把它想象成“标准集装箱”，它将复杂的计算环境标准化，确保你的任务无论是在强强的游戏主机上，还是在数据中心的服务器里，都能无缝运行，解决了跨设备的兼容性难题。
有了容器，还需要一个聪明的调度员，这就是分布式调度系统。它像是一个超级大脑，实时感知全网成千上万个节点的状态，智能决策每一个计算任务最该去哪里处理，从而实现资源的最优分配。
接下来是区块链技术。算力共享不仅是技术问题，更是信任问题。区块链为我们提供了一套去中心化的账本，能够精准量化每个人的算力贡献，并保障交易的透明与公平，让大家能放心地贡献出自己的设备。
雅婷之前担心的隐私安全，则由“隐私计算”来守护。它通过加密算法，让数据在共享算力进行计算的过程中始终保持加密状态，实现“数据可用而不可见”，在利用算力的同时，严守数据隐私的红线。
大家观察右侧的技术架构逻辑图，这四项技术环环相扣，共同构建了算力共享的坚实底座。有了这套逻辑，我们就能跨越物理限制，把算力变成像电力一样随取随用的资源。接下来，让我们看看这些技术在AI和科研领域具体是如何应用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了解了底层的技术支撑后，我们一起来看，这些看似深奥的理论是如何转化为现实生产力的。算力共享在当今社会已经有了非常广泛的落地案例。
首先是大家最关注的AI训练。现在很多中小型企业虽然没有财力购买成千上万块高端显卡，但通过算力平台租用共享资源，他们也能训练出自己的垂直领域模型，这极大地降低了AI创新的门槛。
在影视渲染领域，算力共享同样大显身手。大家在影院看到的那些精美3D动画，单靠本地渲染可能要耗时数年，但通过全球共享节点加速，渲染时间可以成倍缩短，让艺术创作不再受限于硬件性能。
科研模拟也是一个典型场景。比如著名的Folding@home项目，它动员了全球志愿者的闲置算力来研究蛋白质折叠，这种分布式的“众筹”算力模式为抗击疾病的研究提供了强大的支撑。
此外，在自动驾驶这种边缘计算场景中，车辆之间可以进行实时的本地算力交换。当某台车的计算压力过大时，可以将部分任务交给周边的计算节点，从而确保行驶的绝对安全。
为了让大家有更直观的感受，小助特意准备了一段演示片段。这段视频展示了AI训练、渲染与科研模拟在实际操作中的过程。请大家看演示。
通过这些真实的案例，我们可以看到算力共享已经深入到我们生活的各个角落，成为了推动科技进步的关键动能。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刚才我们看过了算力在各个领域的精彩应用，现在我们要把目光放大，看看国家是如何在宏观层面布局这些资源的。这就是近年来备受瞩目的“东数西算”战略。
请看这张布局图。大家知道，我国东部地区数字经济非常发达，算力需求极大，但那里的土地和电力资源都很宝贵。而西部地区虽然经济稍缓，却拥有得天独厚的绿色能源和广阔空间，这就是我们实施战略的地理前提。
核心战略的内涵非常明确：首先是需求对齐，缓解东部的资源压力；其次是资源互补，发挥西部的能源优势。最终的目标是构建起全国一体化的算力网络，让数据在东西部之间高效流动。
我们可以形象地理解为，把东部那些不需要瞬时反馈的数据“运”到西部去处理，就像西气东输、南水北调一样，这是一种跨区域的资源优化配置。
这项工程的意义非凡，它不仅能优化全国的资源利用效率，还能填补区域间的数字鸿沟，通过数字经济带动中西部地区的跨越式增长。这不仅是技术工程，更是国家发展的大布局。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好，通过刚才的测试和复盘，我们对算力调度有了非常扎实的理解。现在，让我们为这堂课做一个最后的总结，展望一下算力驱动的未来。
我们今天从算力的定义聊到‘东数西算’。大家要记住，算力共享不仅仅是技术层面的资源整合，更是实现资源利用最优解的必然选择。在未来，算力会像水和电一样，成为随用随取的通用基础设施。甚至，正如强强刚才提到的，在万物互联时代，我们每个人的手机、电脑甚至智能家电，都可能成为全球算力网络中的一个微小节点。
观察这张图，这种无处不在的连接，正是我们迈向智能时代的核心动力。
最后，林老师给各位两点行动建议：一是持续关注分布式计算、算力网等前沿技术；二是不要只看代码，要学会培养系统性思维，去理解资源、效率与社会需求之间的复杂关系。雅婷刚才关于隐私保护的思考也非常到位，这正是系统性思维的体现。
今天的课程到此结束。从数字世界的‘生产力’出发，我们共同领略了算力共享的魅力。希望大家在课后能继续探索这个充满无限可能的领域。同学们，下课！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什么是算力：数字世界的“生产力”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060704"/>
            <a:ext cx="4114800" cy="36576"/>
          </a:xfrm>
          <a:custGeom>
            <a:avLst/>
            <a:gdLst/>
            <a:ahLst/>
            <a:cxnLst/>
            <a:rect l="l" t="t" r="r" b="b"/>
            <a:pathLst>
              <a:path w="4114800" h="36576">
                <a:moveTo>
                  <a:pt x="0" y="0"/>
                </a:moveTo>
                <a:lnTo>
                  <a:pt x="4114800" y="0"/>
                </a:lnTo>
                <a:lnTo>
                  <a:pt x="41148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4572000" cy="1572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算力定义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计算机处理数据、运行算法的核心能力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核心价值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驱动人工智能、大数据与云计算的基础动力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548640" y="3200400"/>
            <a:ext cx="4572000" cy="1005840"/>
          </a:xfrm>
          <a:custGeom>
            <a:avLst/>
            <a:gdLst/>
            <a:ahLst/>
            <a:cxnLst/>
            <a:rect l="l" t="t" r="r" b="b"/>
            <a:pathLst>
              <a:path w="4572000" h="1005840">
                <a:moveTo>
                  <a:pt x="0" y="0"/>
                </a:moveTo>
                <a:lnTo>
                  <a:pt x="4572000" y="0"/>
                </a:lnTo>
                <a:lnTo>
                  <a:pt x="457200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438144"/>
            <a:ext cx="420624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算力单位：FLOPS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每秒浮点运算次数 (Floating-point Operations Per Second)</a:t>
            </a:r>
            <a:endParaRPr lang="en-US" sz="1152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280160"/>
            <a:ext cx="3108960" cy="1746504"/>
          </a:xfrm>
          <a:prstGeom prst="rect">
            <a:avLst/>
          </a:prstGeom>
        </p:spPr>
      </p:pic>
      <p:graphicFrame>
        <p:nvGraphicFramePr>
          <p:cNvPr id="9" name="Chart 0" descr=""/>
          <p:cNvGraphicFramePr/>
          <p:nvPr/>
        </p:nvGraphicFramePr>
        <p:xfrm>
          <a:off x="5486400" y="3200400"/>
          <a:ext cx="310896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/>
          <p:nvPr/>
        </p:nvSpPr>
        <p:spPr>
          <a:xfrm>
            <a:off x="5486400" y="4709160"/>
            <a:ext cx="31089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图表：近十年全球算力需求爆发式增长趋势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为什么需要“算力共享”？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931920" cy="1847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供需失衡：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尖端AI模型对算力的海量需求与高昂硬件成本之间的矛盾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资源闲置：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全球数以亿计的个人设备在绝大多数时间内算力处于浪费状态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共享本质：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打破“算力孤岛”，实现分布式资源的高效重组与配置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71600"/>
            <a:ext cx="3749040" cy="2103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3429000"/>
            <a:ext cx="8046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算力资源利用率对比分析</a:t>
            </a:r>
            <a:endParaRPr lang="en-US" sz="1152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02336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资源类型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平均利用率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核心状态特征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个人电脑/边缘设备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10%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极度分散，长期处于待机或低负荷状态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集中式数据中心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27AE6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 80%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高能耗运行，硬件更新迭代成本巨大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算力网：像用电一样使用算力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206240" cy="23682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3749040"/>
            <a:ext cx="42062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概念图：电力网与分布式计算网络的愿景对比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4937760" y="1280160"/>
            <a:ext cx="3657600" cy="777240"/>
          </a:xfrm>
          <a:custGeom>
            <a:avLst/>
            <a:gdLst/>
            <a:ahLst/>
            <a:cxnLst/>
            <a:rect l="l" t="t" r="r" b="b"/>
            <a:pathLst>
              <a:path w="3657600" h="777240">
                <a:moveTo>
                  <a:pt x="0" y="0"/>
                </a:moveTo>
                <a:lnTo>
                  <a:pt x="3657600" y="0"/>
                </a:lnTo>
                <a:lnTo>
                  <a:pt x="365760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8" name="Text 4"/>
          <p:cNvSpPr/>
          <p:nvPr/>
        </p:nvSpPr>
        <p:spPr>
          <a:xfrm>
            <a:off x="5120640" y="1316736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电力网演进比喻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从分散的“自备发电机”向社会化“公共电网”的必然跨越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4937760" y="2148840"/>
            <a:ext cx="3657600" cy="777240"/>
          </a:xfrm>
          <a:custGeom>
            <a:avLst/>
            <a:gdLst/>
            <a:ahLst/>
            <a:cxnLst/>
            <a:rect l="l" t="t" r="r" b="b"/>
            <a:pathLst>
              <a:path w="3657600" h="777240">
                <a:moveTo>
                  <a:pt x="0" y="0"/>
                </a:moveTo>
                <a:lnTo>
                  <a:pt x="3657600" y="0"/>
                </a:lnTo>
                <a:lnTo>
                  <a:pt x="365760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0" name="Text 6"/>
          <p:cNvSpPr/>
          <p:nvPr/>
        </p:nvSpPr>
        <p:spPr>
          <a:xfrm>
            <a:off x="5120640" y="2185416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算力池化技术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屏蔽底层差异，将分散算力整合成虚拟统一的资源池</a:t>
            </a:r>
            <a:endParaRPr lang="en-US" sz="1152" dirty="0"/>
          </a:p>
        </p:txBody>
      </p:sp>
      <p:sp>
        <p:nvSpPr>
          <p:cNvPr id="11" name="Shape 7"/>
          <p:cNvSpPr/>
          <p:nvPr/>
        </p:nvSpPr>
        <p:spPr>
          <a:xfrm>
            <a:off x="4937760" y="3017520"/>
            <a:ext cx="3657600" cy="777240"/>
          </a:xfrm>
          <a:custGeom>
            <a:avLst/>
            <a:gdLst/>
            <a:ahLst/>
            <a:cxnLst/>
            <a:rect l="l" t="t" r="r" b="b"/>
            <a:pathLst>
              <a:path w="3657600" h="777240">
                <a:moveTo>
                  <a:pt x="0" y="0"/>
                </a:moveTo>
                <a:lnTo>
                  <a:pt x="3657600" y="0"/>
                </a:lnTo>
                <a:lnTo>
                  <a:pt x="365760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2" name="Text 8"/>
          <p:cNvSpPr/>
          <p:nvPr/>
        </p:nvSpPr>
        <p:spPr>
          <a:xfrm>
            <a:off x="5120640" y="3054096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“即插即用”愿景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用户无需关注硬件逻辑，按需订阅，如同开启电灯般便捷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4937760" y="3886200"/>
            <a:ext cx="3657600" cy="777240"/>
          </a:xfrm>
          <a:custGeom>
            <a:avLst/>
            <a:gdLst/>
            <a:ahLst/>
            <a:cxnLst/>
            <a:rect l="l" t="t" r="r" b="b"/>
            <a:pathLst>
              <a:path w="3657600" h="777240">
                <a:moveTo>
                  <a:pt x="0" y="0"/>
                </a:moveTo>
                <a:lnTo>
                  <a:pt x="3657600" y="0"/>
                </a:lnTo>
                <a:lnTo>
                  <a:pt x="365760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4" name="Text 10"/>
          <p:cNvSpPr/>
          <p:nvPr/>
        </p:nvSpPr>
        <p:spPr>
          <a:xfrm>
            <a:off x="5120640" y="3922776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绿色算力枢纽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集中共享提高能效比，优化资源利用，降低整体碳排放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算力共享的技术支柱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377440" cy="36576"/>
          </a:xfrm>
          <a:custGeom>
            <a:avLst/>
            <a:gdLst/>
            <a:ahLst/>
            <a:cxnLst/>
            <a:rect l="l" t="t" r="r" b="b"/>
            <a:pathLst>
              <a:path w="2377440" h="36576">
                <a:moveTo>
                  <a:pt x="0" y="0"/>
                </a:moveTo>
                <a:lnTo>
                  <a:pt x="2377440" y="0"/>
                </a:lnTo>
                <a:lnTo>
                  <a:pt x="237744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71600"/>
            <a:ext cx="3840480" cy="694944"/>
          </a:xfrm>
          <a:custGeom>
            <a:avLst/>
            <a:gdLst/>
            <a:ahLst/>
            <a:cxnLst/>
            <a:rect l="l" t="t" r="r" b="b"/>
            <a:pathLst>
              <a:path w="3840480" h="694944">
                <a:moveTo>
                  <a:pt x="0" y="0"/>
                </a:moveTo>
                <a:lnTo>
                  <a:pt x="3840480" y="0"/>
                </a:lnTo>
                <a:lnTo>
                  <a:pt x="384048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90472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虚拟化与容器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：环境标准化，跨设备运行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3840480" cy="694944"/>
          </a:xfrm>
          <a:custGeom>
            <a:avLst/>
            <a:gdLst/>
            <a:ahLst/>
            <a:cxnLst/>
            <a:rect l="l" t="t" r="r" b="b"/>
            <a:pathLst>
              <a:path w="3840480" h="694944">
                <a:moveTo>
                  <a:pt x="0" y="0"/>
                </a:moveTo>
                <a:lnTo>
                  <a:pt x="3840480" y="0"/>
                </a:lnTo>
                <a:lnTo>
                  <a:pt x="384048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13432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分布式调度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：智能决策任务去向的“大脑”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3840480" cy="694944"/>
          </a:xfrm>
          <a:custGeom>
            <a:avLst/>
            <a:gdLst/>
            <a:ahLst/>
            <a:cxnLst/>
            <a:rect l="l" t="t" r="r" b="b"/>
            <a:pathLst>
              <a:path w="3840480" h="694944">
                <a:moveTo>
                  <a:pt x="0" y="0"/>
                </a:moveTo>
                <a:lnTo>
                  <a:pt x="3840480" y="0"/>
                </a:lnTo>
                <a:lnTo>
                  <a:pt x="384048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136392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区块链技术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：解决量化、交易与信任难题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3840480"/>
            <a:ext cx="3840480" cy="694944"/>
          </a:xfrm>
          <a:custGeom>
            <a:avLst/>
            <a:gdLst/>
            <a:ahLst/>
            <a:cxnLst/>
            <a:rect l="l" t="t" r="r" b="b"/>
            <a:pathLst>
              <a:path w="3840480" h="694944">
                <a:moveTo>
                  <a:pt x="0" y="0"/>
                </a:moveTo>
                <a:lnTo>
                  <a:pt x="3840480" y="0"/>
                </a:lnTo>
                <a:lnTo>
                  <a:pt x="384048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959352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隐私计算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：共享算力且确保数据不泄露</a:t>
            </a:r>
            <a:endParaRPr lang="en-US" sz="1152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71600"/>
            <a:ext cx="3931920" cy="22128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749040"/>
            <a:ext cx="39319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技术架构逻辑示意图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典型应用：从AI训练到科学研究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914400" cy="36576"/>
          </a:xfrm>
          <a:custGeom>
            <a:avLst/>
            <a:gdLst/>
            <a:ahLst/>
            <a:cxnLst/>
            <a:rect l="l" t="t" r="r" b="b"/>
            <a:pathLst>
              <a:path w="914400" h="36576">
                <a:moveTo>
                  <a:pt x="0" y="0"/>
                </a:moveTo>
                <a:lnTo>
                  <a:pt x="914400" y="0"/>
                </a:lnTo>
                <a:lnTo>
                  <a:pt x="9144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71600"/>
            <a:ext cx="4023360" cy="731520"/>
          </a:xfrm>
          <a:custGeom>
            <a:avLst/>
            <a:gdLst/>
            <a:ahLst/>
            <a:cxnLst/>
            <a:rect l="l" t="t" r="r" b="b"/>
            <a:pathLst>
              <a:path w="4023360" h="731520">
                <a:moveTo>
                  <a:pt x="0" y="0"/>
                </a:moveTo>
                <a:lnTo>
                  <a:pt x="4023360" y="0"/>
                </a:lnTo>
                <a:lnTo>
                  <a:pt x="402336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08760"/>
            <a:ext cx="36576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AI训练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：中小企业通过算力租用训练模型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4023360" cy="731520"/>
          </a:xfrm>
          <a:custGeom>
            <a:avLst/>
            <a:gdLst/>
            <a:ahLst/>
            <a:cxnLst/>
            <a:rect l="l" t="t" r="r" b="b"/>
            <a:pathLst>
              <a:path w="4023360" h="731520">
                <a:moveTo>
                  <a:pt x="0" y="0"/>
                </a:moveTo>
                <a:lnTo>
                  <a:pt x="4023360" y="0"/>
                </a:lnTo>
                <a:lnTo>
                  <a:pt x="402336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77440"/>
            <a:ext cx="36576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影视渲染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：全球共享节点加速3D动画渲染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4023360" cy="731520"/>
          </a:xfrm>
          <a:custGeom>
            <a:avLst/>
            <a:gdLst/>
            <a:ahLst/>
            <a:cxnLst/>
            <a:rect l="l" t="t" r="r" b="b"/>
            <a:pathLst>
              <a:path w="4023360" h="731520">
                <a:moveTo>
                  <a:pt x="0" y="0"/>
                </a:moveTo>
                <a:lnTo>
                  <a:pt x="4023360" y="0"/>
                </a:lnTo>
                <a:lnTo>
                  <a:pt x="402336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246120"/>
            <a:ext cx="36576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科研模拟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：分布式算力助力蛋白质折叠研究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4023360" cy="731520"/>
          </a:xfrm>
          <a:custGeom>
            <a:avLst/>
            <a:gdLst/>
            <a:ahLst/>
            <a:cxnLst/>
            <a:rect l="l" t="t" r="r" b="b"/>
            <a:pathLst>
              <a:path w="4023360" h="731520">
                <a:moveTo>
                  <a:pt x="0" y="0"/>
                </a:moveTo>
                <a:lnTo>
                  <a:pt x="4023360" y="0"/>
                </a:lnTo>
                <a:lnTo>
                  <a:pt x="402336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114800"/>
            <a:ext cx="36576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边缘计算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：自动驾驶中的实时本地算力交换</a:t>
            </a:r>
            <a:endParaRPr lang="en-US" sz="1152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937760" y="1691640"/>
            <a:ext cx="3657600" cy="2057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7760" y="3840480"/>
            <a:ext cx="36576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算力应用演示：AI训练、渲染与科研模拟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“东数西算”：国家级算力战略布局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498DB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657600" cy="2377440"/>
          </a:xfrm>
          <a:custGeom>
            <a:avLst/>
            <a:gdLst/>
            <a:ahLst/>
            <a:cxnLst/>
            <a:rect l="l" t="t" r="r" b="b"/>
            <a:pathLst>
              <a:path w="3657600" h="2377440">
                <a:moveTo>
                  <a:pt x="0" y="0"/>
                </a:moveTo>
                <a:lnTo>
                  <a:pt x="3657600" y="0"/>
                </a:lnTo>
                <a:lnTo>
                  <a:pt x="3657600" y="2377440"/>
                </a:lnTo>
                <a:lnTo>
                  <a:pt x="0" y="237744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91640"/>
            <a:ext cx="3291840" cy="1847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核心战略内涵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需求对齐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：解决东部算力资源紧张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资源互补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：利用西部能源与环境优势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网络构建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：打造全国一体化共享网络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8046720" cy="731520"/>
          </a:xfrm>
          <a:custGeom>
            <a:avLst/>
            <a:gdLst/>
            <a:ahLst/>
            <a:cxnLst/>
            <a:rect l="l" t="t" r="r" b="b"/>
            <a:pathLst>
              <a:path w="8046720" h="731520">
                <a:moveTo>
                  <a:pt x="0" y="0"/>
                </a:moveTo>
                <a:lnTo>
                  <a:pt x="8046720" y="0"/>
                </a:lnTo>
                <a:lnTo>
                  <a:pt x="8046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EF7F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251960"/>
            <a:ext cx="76809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战略意义：优化资源利用 · 填补区域鸿沟 · 驱动中西部数字经济增长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3749040" y="2651760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27432">
            <a:solidFill>
              <a:srgbClr val="3498DB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总结：迈向算力驱动的未来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E2E8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0016" y="1371600"/>
            <a:ext cx="3895344" cy="2194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1993392"/>
            <a:ext cx="365760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核心回顾：算力共享是资源利用最优解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未来趋势：算力将成为通用基础设施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个人机会：设备皆联网，人人可贡献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548640" y="3794760"/>
            <a:ext cx="8046720" cy="731520"/>
          </a:xfrm>
          <a:custGeom>
            <a:avLst/>
            <a:gdLst/>
            <a:ahLst/>
            <a:cxnLst/>
            <a:rect l="l" t="t" r="r" b="b"/>
            <a:pathLst>
              <a:path w="8046720" h="731520">
                <a:moveTo>
                  <a:pt x="0" y="0"/>
                </a:moveTo>
                <a:lnTo>
                  <a:pt x="8046720" y="0"/>
                </a:lnTo>
                <a:lnTo>
                  <a:pt x="8046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931920"/>
            <a:ext cx="76809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行动建议：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关注前沿计算技术，培养系统性思维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2026-04-10T23:06:59Z</dcterms:created>
  <dcterms:modified xsi:type="dcterms:W3CDTF">2026-04-10T23:06:59Z</dcterms:modified>
</cp:coreProperties>
</file>