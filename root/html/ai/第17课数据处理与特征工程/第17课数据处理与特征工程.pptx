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大家好！欢迎来到我们的机器学习课堂。今天我们将深入探讨一个在工业界至关重要的课题——第17课：数据处理与特征工程。
在开始具体技术讲解前，我希望大家先记住这句话：‘数据和特征决定了机器学习的上限，而模型和算法只是在努力逼近这个上限’。这意味着，如果你的数据本身质量不高，再复杂的深度学习模型也难以取得理想的效果。
观察这张机器学习全流程漏斗图，我们可以看到从原始数据到最终模型产出，中间经历了大量的加工环节。特征工程正是将‘粗粮’变成‘精粮’的关键一步。
本节课我们将围绕三个核心维度展开：第一，数据清洗，教你如何处理噪声和异常；第二，特征变换，掌握标准化与归一化的技巧；第三，特征选择，学习如何挑选最有价值的信息来提升模型的泛化能力。
接下来的内容实战性很强，希望大家跟着我的思路，一起探索如何挖掘数据背后的潜能。阿博，关于‘特征决定上限’这一点，你有什么初步的想法吗？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如阿博刚才提到的，我们必须深刻理解这句话：‘数据决定上限，模型逼近上限’。如果我们的原始数据中存在大量缺失，却不加处理地丢进模型，那么模型学到的只会是噪音。所以，缺失值处理是特征工程中最基础也最关键的一环。
首先，我们要对缺失值的类型进行‘诊断’。是像完全随机缺失（MCAR）那样纯粹看运气，还是像随机缺失（MAR）那样与其他已知特征有关？比如在调研中，高收入群体可能更倾向于隐藏收入数据，这就属于有规律的缺失，需要区别对待。
针对不同的缺失类型，我们的处理手段也不同。最简单的是删除法，但它只适合缺失比例极低的情况。更常用的是填充法，比如利用统计学上的均值、众数或中位数，甚至可以通过构建一个小的机器学习模型来预测并补全这些空缺。
大家可以看这个对比表。删除法虽然高效但容易丢失信息；填充法能保留样本量，但操作不当会引入偏差。在实际项目中，我们往往需要尝试多种策略，并通过交叉验证来观察哪种方法对最终模型的效果提升最明显。
这一页我们理清了缺失值的处理逻辑。接下来，我们要面对数据中另一个顽固的问题——异常值。悦悦，如果是你，你会如何定义一个数值‘不正常’呢？我们继续往下看。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刚才留给悦悦的问题很有意思。实际上，异常值并不总是坏事，它们有时是数据中的‘噪音’，有时却蕴含着核心的业务逻辑。今天我们要深入探讨如何科学地检测并处理这些‘特殊分子’。
首先看检测方法。我们不能仅凭直觉判断，通常需要借用统计学的工具来量化什么是‘异常’。
这里有两种最经典的准则：3σ原则适用于正态分布，认为超出3倍标准差的数据就是低概率的异常；而对于非正态分布，我们更倾向于使用箱线图法，也就是基于四分位距IQR的判断。
大家看这个公式，通过第一和第三四分位数计算出上下界。IQR法的优势在于它非常鲁棒，不会轻易被极端的异常值本身带偏了检测基准。
在图示中，这些落在虚线之外的点就是我们要重点关照的对象。阿博，你要注意，识别出它们只是第一步，千万不要盲目地一删了之。
这就涉及到了处理策略。我们需要分析异常产生的原因：是因为测量误差，还是真实的极端业务情况？
如果想减弱异常值的影响而不丢失样本，‘盖帽法’非常有效，它将异常值强行拉回到边界值上。当然，也可以选择直接剔除，或者干脆将异常属性提取出来作为独立特征建模。
常言道，数据决定了模型效果的上限。处理好缺失值和异常值，我们的数据清洗工作就完成了一大半。接下来，我们进入一个小测验，看看大家是否已经掌握了这些基本功。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刚才我们讨论了如何识别和处理异常值，这确保了数据的“质量”。接下来，我们要解决的是特征的“尺度”问题，也就是特征变换中的无量纲化处理。
无量纲化的核心价值在于消除尺度影响。想象一下，如果一个特征是年收入（数万元），另一个是年龄（两位数），在没有处理的情况下，数值大的特征会在计算中占据主导地位，这显然是不合理的。
通过无量纲化，我们可以统一特征的量级，从而加速梯度下降算法的收敛速度。更重要的是，它能显著提升 KNN、SVM 等这类依赖距离计算模型的预测精度。
来看第一种常用方法：归一化。利用这个公式，我们将原始数据等比例缩放到 0 到 1 的区间内。这种方法非常直观，但它对异常值比较敏感，因为最大最小值一旦偏移，整体分布就会改变。
第二种是标准化，也就是 Z-Score。它通过减去均值并除以标准差，将数据转换为均值为 0、方差为 1 的分布。在大多数机器学习场景中，标准化的稳健性更好，是我们的首选方案。
总结一下我的建议：如果模型涉及距离计算，无量纲化是必须做的。若数据中存在明显的离群点，请优先选择标准化。理解了这些原理，接下来我们通过一段动态演示来直观感受两者的区别。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掌握了数值特征的无量纲化处理，但在实际业务场景中，我们还会遇到大量像“颜色”、“城市”或“用户等级”这样的非数值型数据。要让模型读懂这些信息，就必须进行“类别特征编码”，实现从文本到数值的跨越。
首先来看标签编码（Label Encoding）。这种方法最适合处理有“序”的类别。比如我们将“初级、中级、高级”分别映射为“0, 1, 2”，这样模型就能识别出其中的等级递进关系。但如果是处理像“颜色”这种没有大小之分的无序类别，我们通常会采用“独热编码”（One-Hot Encoding）。
这里提醒大家，使用独热编码时要警惕“维度灾难”。如果一个特征下有上千个类别，编码后的矩阵会变得极其稀疏。针对这种情况，我们后续还会接触到更高级的“目标编码”（Target Encoding），它通过结合标签信息来降低维度。
为了更直观地理解，请看这张流程图。我们把颜色特征展开，红色、绿色、蓝色分别占据一个维度。当样本是红色时，对应的位置设为1，其他设为0。这种方式保证了不同类别在向量空间中的地位是平等的，避免了模型产生错误的序关系认知。
正如我常说的，“数据决定了机器学习的上限，而模型只是逼近这个上限”。编码方式的选择，直接决定了模型能从数据中提取多少有效信息。大家在做特征工程时，务必要根据业务场景慎重决定。接下来，我们看看在编码之后，该如何进行特征的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刚才我们讨论了特征编码，但编码后的特征维度往往会显著增加。为了提升模型效率并避免过拟合，我们需要从海量特征中挑选出最有价值的信息，这就是我们要学习的“特征选择”。
首先来看“过滤式”方法。它就像一把统计学筛子，在模型训练前通过皮尔逊相关系数或卡方检验等指标，直接剔除与目标无关的变量。这种方法计算速度最快，且不依赖特定的学习算法。
接着是更进阶的包裹式和嵌入式。包裹式会反复训练模型来评价特征子集的效果，比如递归特征消除；而嵌入式如Lasso回归，则是将特征选择融入到模型自身的损失函数中，在训练的同时完成筛选。
这里大家一定要注意区分：特征选择是“从旧挑新”，保留了特征的原始业务含义；而PCA等特征降维则是“化旧为新”，会改变特征的空间映射。在需要强解释性的业务场景中，特征选择通常是我们的首选。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通过刚才的实战演练，相信大家对特征工程的全流程已经有了非常直观的认识。在课程的最后，我们来做一个系统的总结，并分享一些在实际工作中极其重要的‘避坑指南’。
我们这一堂课先后讲解了数据清洗、特征变换、特征选择以及最后的特征构造。请大家记住这个逻辑顺序，这是构建高质量数据集的标准路径。
这里有一个新手最容易踩的坑，就是‘数据泄露’。一定要切记：所有的统计量和缩放比例，都必须仅在训练集上进行Fit，而在测试集上只能进行Transform。如果让测试集的信息提前‘进入’了训练过程，你的模型评估结果就会变成虚假的繁荣。
最后，我想送给大家一句话：数据和特征决定了机器学习的上限，而模型和算法仅仅是去逼近这个上限。在动手写代码之前，养成先观察数据分布的习惯，往往比盲目尝试复杂的模型更有效。
今天的课程到此结束，感谢大家的积极参与，特别是阿博、悦悦和奇奇在项目中的精彩表现。希望大家在今后的数据科学之路上，能始终保持这种严谨且充满好奇心的态度。我们下个系列再见！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第17课：数据处理与特征工程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4114800" cy="36576"/>
          </a:xfrm>
          <a:custGeom>
            <a:avLst/>
            <a:gdLst/>
            <a:ahLst/>
            <a:cxnLst/>
            <a:rect l="l" t="t" r="r" b="b"/>
            <a:pathLst>
              <a:path w="4114800" h="36576">
                <a:moveTo>
                  <a:pt x="0" y="0"/>
                </a:moveTo>
                <a:lnTo>
                  <a:pt x="4114800" y="0"/>
                </a:lnTo>
                <a:lnTo>
                  <a:pt x="41148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3840480" cy="1280160"/>
          </a:xfrm>
          <a:custGeom>
            <a:avLst/>
            <a:gdLst/>
            <a:ahLst/>
            <a:cxnLst/>
            <a:rect l="l" t="t" r="r" b="b"/>
            <a:pathLst>
              <a:path w="3840480" h="1280160">
                <a:moveTo>
                  <a:pt x="0" y="0"/>
                </a:moveTo>
                <a:lnTo>
                  <a:pt x="3840480" y="0"/>
                </a:lnTo>
                <a:lnTo>
                  <a:pt x="384048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847088"/>
            <a:ext cx="3474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数据与特征决定了机器学习的上限，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模型和算法只是在逼近这个上限。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554480"/>
            <a:ext cx="3931920" cy="22128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017520"/>
            <a:ext cx="38404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本课核心大纲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731520" y="3611880"/>
            <a:ext cx="347472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：去除噪声与异常值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特征变换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：标准化与归一化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特征选择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：提升模型泛化能力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94360" y="3108960"/>
            <a:ext cx="36576" cy="320040"/>
          </a:xfrm>
          <a:custGeom>
            <a:avLst/>
            <a:gdLst/>
            <a:ahLst/>
            <a:cxnLst/>
            <a:rect l="l" t="t" r="r" b="b"/>
            <a:pathLst>
              <a:path w="36576" h="320040">
                <a:moveTo>
                  <a:pt x="0" y="0"/>
                </a:moveTo>
                <a:lnTo>
                  <a:pt x="36576" y="0"/>
                </a:lnTo>
                <a:lnTo>
                  <a:pt x="36576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数据清洗：缺失值处理策略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097280"/>
            <a:ext cx="3657600" cy="36576"/>
          </a:xfrm>
          <a:custGeom>
            <a:avLst/>
            <a:gdLst/>
            <a:ahLst/>
            <a:cxnLst/>
            <a:rect l="l" t="t" r="r" b="b"/>
            <a:pathLst>
              <a:path w="3657600" h="36576">
                <a:moveTo>
                  <a:pt x="0" y="0"/>
                </a:moveTo>
                <a:lnTo>
                  <a:pt x="3657600" y="0"/>
                </a:lnTo>
                <a:lnTo>
                  <a:pt x="36576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366CC"/>
          </a:solidFill>
          <a:ln/>
        </p:spPr>
      </p:sp>
      <p:sp>
        <p:nvSpPr>
          <p:cNvPr id="5" name="Shape 2"/>
          <p:cNvSpPr/>
          <p:nvPr/>
        </p:nvSpPr>
        <p:spPr>
          <a:xfrm>
            <a:off x="6217920" y="548640"/>
            <a:ext cx="2377440" cy="457200"/>
          </a:xfrm>
          <a:custGeom>
            <a:avLst/>
            <a:gdLst/>
            <a:ahLst/>
            <a:cxnLst/>
            <a:rect l="l" t="t" r="r" b="b"/>
            <a:pathLst>
              <a:path w="2377440" h="457200">
                <a:moveTo>
                  <a:pt x="0" y="0"/>
                </a:moveTo>
                <a:lnTo>
                  <a:pt x="2377440" y="0"/>
                </a:lnTo>
                <a:lnTo>
                  <a:pt x="237744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576072"/>
            <a:ext cx="219456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“数据决定上限，模型逼近上限”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393192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缺失值类型识别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完全随机缺失 (MCAR)：与观测值无关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随机缺失 (MAR)：与其他特征相关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非随机缺失 (MNAR)：与自身未观测值相关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393192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核心处理手段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删除法：适用于缺失比例较低的情况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填充法：使用均值、众数或中位数补全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模型法：利用随机森林或回归预测填充</a:t>
            </a:r>
            <a:endParaRPr lang="en-US" sz="1152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8046720" cy="1005840"/>
        </p:xfrm>
        <a:graphic>
          <a:graphicData uri="http://schemas.openxmlformats.org/drawingml/2006/table">
            <a:tbl>
              <a:tblPr/>
              <a:tblGrid>
                <a:gridCol w="1609344"/>
                <a:gridCol w="3218688"/>
                <a:gridCol w="3218688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处理方法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缺点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删除法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操作简单，不引入伪造数据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减少样本量，可能产生统计偏差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填充法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保持数据集完整，利用所有样本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增加噪声，可能改变特征分布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异常值检测与处理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52144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7160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检测方法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731520" y="1920240"/>
            <a:ext cx="365760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3σ 原则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适用于正态分布，识别 3 倍标准差外的数据。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箱线图 (IQR)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鲁棒性强，不依赖分布假设。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7" name="Formula 0"/>
              <p:cNvSpPr/>
              <p:nvPr/>
            </p:nvSpPr>
            <p:spPr>
              <a:xfrm>
                <a:off x="914400" y="2880360"/>
                <a:ext cx="32004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[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Q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−1.5×IQR,</m:t>
                      </m:r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Q</m:t>
                          </m:r>
                        </m:e>
                        <m: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3</m:t>
                          </m:r>
                        </m:sub>
                      </m:sSub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+1.5×IQR]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Formula 0"/>
              <p:cNvSpPr/>
              <p:nvPr/>
            </p:nvSpPr>
            <p:spPr>
              <a:xfrm>
                <a:off x="914400" y="2880360"/>
                <a:ext cx="32004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8" name="Shape 4"/>
          <p:cNvSpPr/>
          <p:nvPr/>
        </p:nvSpPr>
        <p:spPr>
          <a:xfrm>
            <a:off x="5943600" y="1920240"/>
            <a:ext cx="914400" cy="731520"/>
          </a:xfrm>
          <a:custGeom>
            <a:avLst/>
            <a:gdLst/>
            <a:ahLst/>
            <a:cxnLst/>
            <a:rect l="l" t="t" r="r" b="b"/>
            <a:pathLst>
              <a:path w="914400" h="731520">
                <a:moveTo>
                  <a:pt x="0" y="0"/>
                </a:moveTo>
                <a:lnTo>
                  <a:pt x="914400" y="0"/>
                </a:lnTo>
                <a:lnTo>
                  <a:pt x="91440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9" name="Shape 5"/>
          <p:cNvSpPr/>
          <p:nvPr/>
        </p:nvSpPr>
        <p:spPr>
          <a:xfrm>
            <a:off x="5943600" y="1920240"/>
            <a:ext cx="914400" cy="18288"/>
          </a:xfrm>
          <a:custGeom>
            <a:avLst/>
            <a:gdLst/>
            <a:ahLst/>
            <a:cxnLst/>
            <a:rect l="l" t="t" r="r" b="b"/>
            <a:pathLst>
              <a:path w="914400" h="18288">
                <a:moveTo>
                  <a:pt x="0" y="0"/>
                </a:moveTo>
                <a:lnTo>
                  <a:pt x="914400" y="0"/>
                </a:lnTo>
                <a:lnTo>
                  <a:pt x="91440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0" name="Shape 6"/>
          <p:cNvSpPr/>
          <p:nvPr/>
        </p:nvSpPr>
        <p:spPr>
          <a:xfrm>
            <a:off x="5943600" y="2651760"/>
            <a:ext cx="914400" cy="18288"/>
          </a:xfrm>
          <a:custGeom>
            <a:avLst/>
            <a:gdLst/>
            <a:ahLst/>
            <a:cxnLst/>
            <a:rect l="l" t="t" r="r" b="b"/>
            <a:pathLst>
              <a:path w="914400" h="18288">
                <a:moveTo>
                  <a:pt x="0" y="0"/>
                </a:moveTo>
                <a:lnTo>
                  <a:pt x="914400" y="0"/>
                </a:lnTo>
                <a:lnTo>
                  <a:pt x="91440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0" y="2286000"/>
            <a:ext cx="914400" cy="18288"/>
          </a:xfrm>
          <a:custGeom>
            <a:avLst/>
            <a:gdLst/>
            <a:ahLst/>
            <a:cxnLst/>
            <a:rect l="l" t="t" r="r" b="b"/>
            <a:pathLst>
              <a:path w="914400" h="18288">
                <a:moveTo>
                  <a:pt x="0" y="0"/>
                </a:moveTo>
                <a:lnTo>
                  <a:pt x="914400" y="0"/>
                </a:lnTo>
                <a:lnTo>
                  <a:pt x="91440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2" name="Shape 8"/>
          <p:cNvSpPr/>
          <p:nvPr/>
        </p:nvSpPr>
        <p:spPr>
          <a:xfrm>
            <a:off x="6400800" y="1371600"/>
            <a:ext cx="0" cy="548640"/>
          </a:xfrm>
          <a:custGeom>
            <a:avLst/>
            <a:gdLst/>
            <a:ahLst/>
            <a:cxnLst/>
            <a:rect l="l" t="t" r="r" b="b"/>
            <a:pathLst>
              <a:path w="0" h="548640">
                <a:moveTo>
                  <a:pt x="0" y="0"/>
                </a:moveTo>
                <a:lnTo>
                  <a:pt x="0" y="548640"/>
                </a:lnTo>
              </a:path>
            </a:pathLst>
          </a:custGeom>
          <a:noFill/>
          <a:ln w="18288">
            <a:solidFill>
              <a:srgbClr val="3182CE"/>
            </a:solidFill>
            <a:prstDash val="solid"/>
            <a:headEnd type="none"/>
            <a:tailEnd type="none"/>
          </a:ln>
        </p:spPr>
      </p:sp>
      <p:sp>
        <p:nvSpPr>
          <p:cNvPr id="13" name="Shape 9"/>
          <p:cNvSpPr/>
          <p:nvPr/>
        </p:nvSpPr>
        <p:spPr>
          <a:xfrm>
            <a:off x="6217920" y="1371600"/>
            <a:ext cx="365760" cy="18288"/>
          </a:xfrm>
          <a:custGeom>
            <a:avLst/>
            <a:gdLst/>
            <a:ahLst/>
            <a:cxnLst/>
            <a:rect l="l" t="t" r="r" b="b"/>
            <a:pathLst>
              <a:path w="365760" h="18288">
                <a:moveTo>
                  <a:pt x="0" y="0"/>
                </a:moveTo>
                <a:lnTo>
                  <a:pt x="365760" y="0"/>
                </a:lnTo>
                <a:lnTo>
                  <a:pt x="36576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0" y="2651760"/>
            <a:ext cx="0" cy="548640"/>
          </a:xfrm>
          <a:custGeom>
            <a:avLst/>
            <a:gdLst/>
            <a:ahLst/>
            <a:cxnLst/>
            <a:rect l="l" t="t" r="r" b="b"/>
            <a:pathLst>
              <a:path w="0" h="548640">
                <a:moveTo>
                  <a:pt x="0" y="0"/>
                </a:moveTo>
                <a:lnTo>
                  <a:pt x="0" y="548640"/>
                </a:lnTo>
              </a:path>
            </a:pathLst>
          </a:custGeom>
          <a:noFill/>
          <a:ln w="18288">
            <a:solidFill>
              <a:srgbClr val="3182CE"/>
            </a:solidFill>
            <a:prstDash val="solid"/>
            <a:headEnd type="none"/>
            <a:tailEnd type="none"/>
          </a:ln>
        </p:spPr>
      </p:sp>
      <p:sp>
        <p:nvSpPr>
          <p:cNvPr id="15" name="Shape 11"/>
          <p:cNvSpPr/>
          <p:nvPr/>
        </p:nvSpPr>
        <p:spPr>
          <a:xfrm>
            <a:off x="6217920" y="3200400"/>
            <a:ext cx="365760" cy="18288"/>
          </a:xfrm>
          <a:custGeom>
            <a:avLst/>
            <a:gdLst/>
            <a:ahLst/>
            <a:cxnLst/>
            <a:rect l="l" t="t" r="r" b="b"/>
            <a:pathLst>
              <a:path w="365760" h="18288">
                <a:moveTo>
                  <a:pt x="0" y="0"/>
                </a:moveTo>
                <a:lnTo>
                  <a:pt x="365760" y="0"/>
                </a:lnTo>
                <a:lnTo>
                  <a:pt x="36576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16" name="Shape 12"/>
          <p:cNvSpPr/>
          <p:nvPr/>
        </p:nvSpPr>
        <p:spPr>
          <a:xfrm>
            <a:off x="6355080" y="10058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91440" y="45720"/>
                </a:moveTo>
                <a:cubicBezTo>
                  <a:pt x="91440" y="70954"/>
                  <a:pt x="70954" y="91440"/>
                  <a:pt x="45720" y="91440"/>
                </a:cubicBezTo>
                <a:cubicBezTo>
                  <a:pt x="20486" y="91440"/>
                  <a:pt x="0" y="70954"/>
                  <a:pt x="0" y="45720"/>
                </a:cubicBezTo>
                <a:cubicBezTo>
                  <a:pt x="0" y="20486"/>
                  <a:pt x="20486" y="0"/>
                  <a:pt x="45720" y="0"/>
                </a:cubicBezTo>
                <a:cubicBezTo>
                  <a:pt x="70954" y="0"/>
                  <a:pt x="91440" y="20486"/>
                  <a:pt x="91440" y="4572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7" name="Shape 13"/>
          <p:cNvSpPr/>
          <p:nvPr/>
        </p:nvSpPr>
        <p:spPr>
          <a:xfrm>
            <a:off x="6355080" y="7772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91440" y="45720"/>
                </a:moveTo>
                <a:cubicBezTo>
                  <a:pt x="91440" y="70954"/>
                  <a:pt x="70954" y="91440"/>
                  <a:pt x="45720" y="91440"/>
                </a:cubicBezTo>
                <a:cubicBezTo>
                  <a:pt x="20486" y="91440"/>
                  <a:pt x="0" y="70954"/>
                  <a:pt x="0" y="45720"/>
                </a:cubicBezTo>
                <a:cubicBezTo>
                  <a:pt x="0" y="20486"/>
                  <a:pt x="20486" y="0"/>
                  <a:pt x="45720" y="0"/>
                </a:cubicBezTo>
                <a:cubicBezTo>
                  <a:pt x="70954" y="0"/>
                  <a:pt x="91440" y="20486"/>
                  <a:pt x="91440" y="45720"/>
                </a:cubicBezTo>
                <a:close/>
              </a:path>
            </a:pathLst>
          </a:custGeom>
          <a:solidFill>
            <a:srgbClr val="E53E3E"/>
          </a:solidFill>
          <a:ln/>
        </p:spPr>
      </p:sp>
      <p:sp>
        <p:nvSpPr>
          <p:cNvPr id="18" name="Text 14"/>
          <p:cNvSpPr/>
          <p:nvPr/>
        </p:nvSpPr>
        <p:spPr>
          <a:xfrm>
            <a:off x="6583680" y="822960"/>
            <a:ext cx="9144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异常值</a:t>
            </a:r>
            <a:endParaRPr lang="en-US" sz="1152" dirty="0"/>
          </a:p>
        </p:txBody>
      </p:sp>
      <p:sp>
        <p:nvSpPr>
          <p:cNvPr id="19" name="Text 15"/>
          <p:cNvSpPr/>
          <p:nvPr/>
        </p:nvSpPr>
        <p:spPr>
          <a:xfrm>
            <a:off x="548640" y="3611880"/>
            <a:ext cx="365760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处理策略</a:t>
            </a:r>
            <a:endParaRPr lang="en-US" sz="1152" dirty="0"/>
          </a:p>
        </p:txBody>
      </p:sp>
      <p:sp>
        <p:nvSpPr>
          <p:cNvPr id="20" name="Shape 16"/>
          <p:cNvSpPr/>
          <p:nvPr/>
        </p:nvSpPr>
        <p:spPr>
          <a:xfrm>
            <a:off x="548640" y="4206240"/>
            <a:ext cx="2560320" cy="731520"/>
          </a:xfrm>
          <a:custGeom>
            <a:avLst/>
            <a:gdLst/>
            <a:ahLst/>
            <a:cxnLst/>
            <a:rect l="l" t="t" r="r" b="b"/>
            <a:pathLst>
              <a:path w="2560320" h="731520">
                <a:moveTo>
                  <a:pt x="0" y="0"/>
                </a:moveTo>
                <a:lnTo>
                  <a:pt x="2560320" y="0"/>
                </a:lnTo>
                <a:lnTo>
                  <a:pt x="25603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DF2F7"/>
          </a:solidFill>
          <a:ln/>
        </p:spPr>
      </p:sp>
      <p:sp>
        <p:nvSpPr>
          <p:cNvPr id="21" name="Text 17"/>
          <p:cNvSpPr/>
          <p:nvPr/>
        </p:nvSpPr>
        <p:spPr>
          <a:xfrm>
            <a:off x="731520" y="4361688"/>
            <a:ext cx="21945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盖帽法 (Winsorizing)</a:t>
            </a:r>
            <a:endParaRPr lang="en-US" sz="1152" dirty="0"/>
          </a:p>
        </p:txBody>
      </p:sp>
      <p:sp>
        <p:nvSpPr>
          <p:cNvPr id="22" name="Shape 18"/>
          <p:cNvSpPr/>
          <p:nvPr/>
        </p:nvSpPr>
        <p:spPr>
          <a:xfrm>
            <a:off x="3291840" y="4206240"/>
            <a:ext cx="2560320" cy="731520"/>
          </a:xfrm>
          <a:custGeom>
            <a:avLst/>
            <a:gdLst/>
            <a:ahLst/>
            <a:cxnLst/>
            <a:rect l="l" t="t" r="r" b="b"/>
            <a:pathLst>
              <a:path w="2560320" h="731520">
                <a:moveTo>
                  <a:pt x="0" y="0"/>
                </a:moveTo>
                <a:lnTo>
                  <a:pt x="2560320" y="0"/>
                </a:lnTo>
                <a:lnTo>
                  <a:pt x="25603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DF2F7"/>
          </a:solidFill>
          <a:ln/>
        </p:spPr>
      </p:sp>
      <p:sp>
        <p:nvSpPr>
          <p:cNvPr id="23" name="Text 19"/>
          <p:cNvSpPr/>
          <p:nvPr/>
        </p:nvSpPr>
        <p:spPr>
          <a:xfrm>
            <a:off x="3474720" y="4361688"/>
            <a:ext cx="21945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直接截断 / 剔除</a:t>
            </a:r>
            <a:endParaRPr lang="en-US" sz="1152" dirty="0"/>
          </a:p>
        </p:txBody>
      </p:sp>
      <p:sp>
        <p:nvSpPr>
          <p:cNvPr id="24" name="Shape 20"/>
          <p:cNvSpPr/>
          <p:nvPr/>
        </p:nvSpPr>
        <p:spPr>
          <a:xfrm>
            <a:off x="6035040" y="4206240"/>
            <a:ext cx="2560320" cy="731520"/>
          </a:xfrm>
          <a:custGeom>
            <a:avLst/>
            <a:gdLst/>
            <a:ahLst/>
            <a:cxnLst/>
            <a:rect l="l" t="t" r="r" b="b"/>
            <a:pathLst>
              <a:path w="2560320" h="731520">
                <a:moveTo>
                  <a:pt x="0" y="0"/>
                </a:moveTo>
                <a:lnTo>
                  <a:pt x="2560320" y="0"/>
                </a:lnTo>
                <a:lnTo>
                  <a:pt x="25603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DF2F7"/>
          </a:solidFill>
          <a:ln/>
        </p:spPr>
      </p:sp>
      <p:sp>
        <p:nvSpPr>
          <p:cNvPr id="25" name="Text 21"/>
          <p:cNvSpPr/>
          <p:nvPr/>
        </p:nvSpPr>
        <p:spPr>
          <a:xfrm>
            <a:off x="6217920" y="4361688"/>
            <a:ext cx="21945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视为独立特征建模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特征变换：无量纲化处理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4F81BD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325880"/>
            <a:ext cx="36576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F4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核心价值：消除尺度影响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39319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加速梯度下降算法收敛速度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提升 KNN、SVM 等距离敏感模型精度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4663440" y="1325880"/>
            <a:ext cx="3931920" cy="1188720"/>
          </a:xfrm>
          <a:custGeom>
            <a:avLst/>
            <a:gdLst/>
            <a:ahLst/>
            <a:cxnLst/>
            <a:rect l="l" t="t" r="r" b="b"/>
            <a:pathLst>
              <a:path w="3931920" h="1188720">
                <a:moveTo>
                  <a:pt x="0" y="0"/>
                </a:moveTo>
                <a:lnTo>
                  <a:pt x="3931920" y="0"/>
                </a:lnTo>
                <a:lnTo>
                  <a:pt x="393192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0" y="1490472"/>
            <a:ext cx="356616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E75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算法建议：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涉及距离计算的模型为必选项；若原始数据分布存在离群点，建议首选标准化处理。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3931920" cy="1920240"/>
          </a:xfrm>
          <a:custGeom>
            <a:avLst/>
            <a:gdLst/>
            <a:ahLst/>
            <a:cxnLst/>
            <a:rect l="l" t="t" r="r" b="b"/>
            <a:pathLst>
              <a:path w="3931920" h="1920240">
                <a:moveTo>
                  <a:pt x="0" y="0"/>
                </a:moveTo>
                <a:lnTo>
                  <a:pt x="3931920" y="0"/>
                </a:lnTo>
                <a:lnTo>
                  <a:pt x="3931920" y="1920240"/>
                </a:lnTo>
                <a:lnTo>
                  <a:pt x="0" y="192024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880360"/>
            <a:ext cx="35661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 (Min-Max Scaling)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1" name="Formula 0"/>
              <p:cNvSpPr/>
              <p:nvPr/>
            </p:nvSpPr>
            <p:spPr>
              <a:xfrm>
                <a:off x="1143000" y="3429000"/>
                <a:ext cx="27432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centerGroup"/>
                    </m:oMathParaPr>
                    <m:oMath>
                      <m:sSup>
                        <m:sSup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x−</m:t>
                          </m:r>
                          <m:sSub>
                            <m:sSubPr>
                              <m:ctrlP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min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max</m:t>
                              </m:r>
                            </m:sub>
                          </m:sSub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−</m:t>
                          </m:r>
                          <m:sSub>
                            <m:sSubPr>
                              <m:ctrlP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min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1" name="Formula 0"/>
              <p:cNvSpPr/>
              <p:nvPr/>
            </p:nvSpPr>
            <p:spPr>
              <a:xfrm>
                <a:off x="1143000" y="3429000"/>
                <a:ext cx="27432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2" name="Text 8"/>
          <p:cNvSpPr/>
          <p:nvPr/>
        </p:nvSpPr>
        <p:spPr>
          <a:xfrm>
            <a:off x="731520" y="4114800"/>
            <a:ext cx="3566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结果缩放到 [0, 1] 区间</a:t>
            </a:r>
            <a:endParaRPr lang="en-US" sz="1152" dirty="0"/>
          </a:p>
        </p:txBody>
      </p:sp>
      <p:sp>
        <p:nvSpPr>
          <p:cNvPr id="13" name="Shape 9"/>
          <p:cNvSpPr/>
          <p:nvPr/>
        </p:nvSpPr>
        <p:spPr>
          <a:xfrm>
            <a:off x="4663440" y="2743200"/>
            <a:ext cx="3931920" cy="1920240"/>
          </a:xfrm>
          <a:custGeom>
            <a:avLst/>
            <a:gdLst/>
            <a:ahLst/>
            <a:cxnLst/>
            <a:rect l="l" t="t" r="r" b="b"/>
            <a:pathLst>
              <a:path w="3931920" h="1920240">
                <a:moveTo>
                  <a:pt x="0" y="0"/>
                </a:moveTo>
                <a:lnTo>
                  <a:pt x="3931920" y="0"/>
                </a:lnTo>
                <a:lnTo>
                  <a:pt x="3931920" y="1920240"/>
                </a:lnTo>
                <a:lnTo>
                  <a:pt x="0" y="192024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Text 10"/>
          <p:cNvSpPr/>
          <p:nvPr/>
        </p:nvSpPr>
        <p:spPr>
          <a:xfrm>
            <a:off x="4846320" y="2880360"/>
            <a:ext cx="35661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 (Z-Score)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5" name="Formula 1"/>
              <p:cNvSpPr/>
              <p:nvPr/>
            </p:nvSpPr>
            <p:spPr>
              <a:xfrm>
                <a:off x="5257800" y="3429000"/>
                <a:ext cx="27432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centerGroup"/>
                    </m:oMathParaPr>
                    <m:oMath>
                      <m:sSup>
                        <m:sSup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′</m:t>
                          </m:r>
                        </m:sup>
                      </m:sSu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x−μ</m:t>
                          </m:r>
                        </m:num>
                        <m:den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σ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5" name="Formula 1"/>
              <p:cNvSpPr/>
              <p:nvPr/>
            </p:nvSpPr>
            <p:spPr>
              <a:xfrm>
                <a:off x="5257800" y="3429000"/>
                <a:ext cx="274320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6" name="Text 11"/>
          <p:cNvSpPr/>
          <p:nvPr/>
        </p:nvSpPr>
        <p:spPr>
          <a:xfrm>
            <a:off x="4846320" y="4114800"/>
            <a:ext cx="35661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转换后均值为 0，方差为 1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2125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类别特征编码：从文本到数值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1645920" cy="36576"/>
          </a:xfrm>
          <a:custGeom>
            <a:avLst/>
            <a:gdLst/>
            <a:ahLst/>
            <a:cxnLst/>
            <a:rect l="l" t="t" r="r" b="b"/>
            <a:pathLst>
              <a:path w="1645920" h="36576">
                <a:moveTo>
                  <a:pt x="0" y="0"/>
                </a:moveTo>
                <a:lnTo>
                  <a:pt x="1645920" y="0"/>
                </a:lnTo>
                <a:lnTo>
                  <a:pt x="16459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0D6EFD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554480"/>
            <a:ext cx="384048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125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标签编码 (Label Encoding)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95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适用于有序类别 (如：等级、评分)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125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独热编码 (One-Hot Encoding)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95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适用于无序类别，解决维度灾难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125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目标编码 (Target Encoding)</a:t>
            </a:r>
            <a:endParaRPr lang="en-US" sz="1152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54480"/>
            <a:ext cx="4023360" cy="22585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3886200"/>
            <a:ext cx="40233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图示：颜色特征转换为 One-Hot 向量过程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548640" y="4389120"/>
            <a:ext cx="3840480" cy="457200"/>
          </a:xfrm>
          <a:custGeom>
            <a:avLst/>
            <a:gdLst/>
            <a:ahLst/>
            <a:cxnLst/>
            <a:rect l="l" t="t" r="r" b="b"/>
            <a:pathLst>
              <a:path w="3840480" h="457200">
                <a:moveTo>
                  <a:pt x="0" y="0"/>
                </a:moveTo>
                <a:lnTo>
                  <a:pt x="3840480" y="0"/>
                </a:lnTo>
                <a:lnTo>
                  <a:pt x="384048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E9ECEF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4389120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950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提示：数据决定上限，模型逼近上限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特征选择：过滤、包裹与嵌入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8046720" cy="27432"/>
          </a:xfrm>
          <a:custGeom>
            <a:avLst/>
            <a:gdLst/>
            <a:ahLst/>
            <a:cxnLst/>
            <a:rect l="l" t="t" r="r" b="b"/>
            <a:pathLst>
              <a:path w="8046720" h="27432">
                <a:moveTo>
                  <a:pt x="0" y="0"/>
                </a:moveTo>
                <a:lnTo>
                  <a:pt x="8046720" y="0"/>
                </a:lnTo>
                <a:lnTo>
                  <a:pt x="804672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71600"/>
            <a:ext cx="3840480" cy="822960"/>
          </a:xfrm>
          <a:custGeom>
            <a:avLst/>
            <a:gdLst/>
            <a:ahLst/>
            <a:cxnLst/>
            <a:rect l="l" t="t" r="r" b="b"/>
            <a:pathLst>
              <a:path w="3840480" h="822960">
                <a:moveTo>
                  <a:pt x="0" y="0"/>
                </a:moveTo>
                <a:lnTo>
                  <a:pt x="3840480" y="0"/>
                </a:lnTo>
                <a:lnTo>
                  <a:pt x="38404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08176"/>
            <a:ext cx="34747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过滤式 (Filter)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皮尔逊相关系数、卡方检验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3840480" cy="822960"/>
          </a:xfrm>
          <a:custGeom>
            <a:avLst/>
            <a:gdLst/>
            <a:ahLst/>
            <a:cxnLst/>
            <a:rect l="l" t="t" r="r" b="b"/>
            <a:pathLst>
              <a:path w="3840480" h="822960">
                <a:moveTo>
                  <a:pt x="0" y="0"/>
                </a:moveTo>
                <a:lnTo>
                  <a:pt x="3840480" y="0"/>
                </a:lnTo>
                <a:lnTo>
                  <a:pt x="38404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0FFF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22576"/>
            <a:ext cx="34747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包裹式 (Wrapper)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递归特征消除 (RFE)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3840480" cy="822960"/>
          </a:xfrm>
          <a:custGeom>
            <a:avLst/>
            <a:gdLst/>
            <a:ahLst/>
            <a:cxnLst/>
            <a:rect l="l" t="t" r="r" b="b"/>
            <a:pathLst>
              <a:path w="3840480" h="822960">
                <a:moveTo>
                  <a:pt x="0" y="0"/>
                </a:moveTo>
                <a:lnTo>
                  <a:pt x="3840480" y="0"/>
                </a:lnTo>
                <a:lnTo>
                  <a:pt x="384048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FFAF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236976"/>
            <a:ext cx="34747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 (Embedded)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Lasso、随机森林重要性得分</a:t>
            </a:r>
            <a:endParaRPr lang="en-US" sz="1152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71600"/>
            <a:ext cx="3840480" cy="21579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251960"/>
            <a:ext cx="8046720" cy="9144"/>
          </a:xfrm>
          <a:custGeom>
            <a:avLst/>
            <a:gdLst/>
            <a:ahLst/>
            <a:cxnLst/>
            <a:rect l="l" t="t" r="r" b="b"/>
            <a:pathLst>
              <a:path w="8046720" h="9144">
                <a:moveTo>
                  <a:pt x="0" y="0"/>
                </a:moveTo>
                <a:lnTo>
                  <a:pt x="8046720" y="0"/>
                </a:lnTo>
                <a:lnTo>
                  <a:pt x="80467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CBD5E0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389120"/>
            <a:ext cx="8046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：特征选择保留原始含义；特征降维（如PCA）将原始特征映射到新空间。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总结与避坑指南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194560" cy="36576"/>
          </a:xfrm>
          <a:custGeom>
            <a:avLst/>
            <a:gdLst/>
            <a:ahLst/>
            <a:cxnLst/>
            <a:rect l="l" t="t" r="r" b="b"/>
            <a:pathLst>
              <a:path w="2194560" h="36576">
                <a:moveTo>
                  <a:pt x="0" y="0"/>
                </a:moveTo>
                <a:lnTo>
                  <a:pt x="2194560" y="0"/>
                </a:lnTo>
                <a:lnTo>
                  <a:pt x="219456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463040"/>
            <a:ext cx="1645920" cy="731520"/>
          </a:xfrm>
          <a:custGeom>
            <a:avLst/>
            <a:gdLst/>
            <a:ahLst/>
            <a:cxnLst/>
            <a:rect l="l" t="t" r="r" b="b"/>
            <a:pathLst>
              <a:path w="1645920" h="731520">
                <a:moveTo>
                  <a:pt x="0" y="0"/>
                </a:moveTo>
                <a:lnTo>
                  <a:pt x="1645920" y="0"/>
                </a:lnTo>
                <a:lnTo>
                  <a:pt x="1645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563624"/>
            <a:ext cx="1280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2377440" y="1828800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 h="0">
                <a:moveTo>
                  <a:pt x="45720" y="0"/>
                </a:moveTo>
                <a:lnTo>
                  <a:pt x="320040" y="0"/>
                </a:lnTo>
              </a:path>
            </a:pathLst>
          </a:custGeom>
          <a:noFill/>
          <a:ln w="27432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8" name="Shape 5"/>
          <p:cNvSpPr/>
          <p:nvPr/>
        </p:nvSpPr>
        <p:spPr>
          <a:xfrm>
            <a:off x="2743200" y="1463040"/>
            <a:ext cx="1645920" cy="731520"/>
          </a:xfrm>
          <a:custGeom>
            <a:avLst/>
            <a:gdLst/>
            <a:ahLst/>
            <a:cxnLst/>
            <a:rect l="l" t="t" r="r" b="b"/>
            <a:pathLst>
              <a:path w="1645920" h="731520">
                <a:moveTo>
                  <a:pt x="0" y="0"/>
                </a:moveTo>
                <a:lnTo>
                  <a:pt x="1645920" y="0"/>
                </a:lnTo>
                <a:lnTo>
                  <a:pt x="1645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0" y="1563624"/>
            <a:ext cx="1280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特征变换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 h="0">
                <a:moveTo>
                  <a:pt x="45720" y="0"/>
                </a:moveTo>
                <a:lnTo>
                  <a:pt x="320040" y="0"/>
                </a:lnTo>
              </a:path>
            </a:pathLst>
          </a:custGeom>
          <a:noFill/>
          <a:ln w="27432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4754880" y="1463040"/>
            <a:ext cx="1645920" cy="731520"/>
          </a:xfrm>
          <a:custGeom>
            <a:avLst/>
            <a:gdLst/>
            <a:ahLst/>
            <a:cxnLst/>
            <a:rect l="l" t="t" r="r" b="b"/>
            <a:pathLst>
              <a:path w="1645920" h="731520">
                <a:moveTo>
                  <a:pt x="0" y="0"/>
                </a:moveTo>
                <a:lnTo>
                  <a:pt x="1645920" y="0"/>
                </a:lnTo>
                <a:lnTo>
                  <a:pt x="1645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563624"/>
            <a:ext cx="1280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特征选择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6400800" y="1828800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 h="0">
                <a:moveTo>
                  <a:pt x="45720" y="0"/>
                </a:moveTo>
                <a:lnTo>
                  <a:pt x="320040" y="0"/>
                </a:lnTo>
              </a:path>
            </a:pathLst>
          </a:custGeom>
          <a:noFill/>
          <a:ln w="27432">
            <a:solidFill>
              <a:srgbClr val="3B82F6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6766560" y="1463040"/>
            <a:ext cx="1645920" cy="731520"/>
          </a:xfrm>
          <a:custGeom>
            <a:avLst/>
            <a:gdLst/>
            <a:ahLst/>
            <a:cxnLst/>
            <a:rect l="l" t="t" r="r" b="b"/>
            <a:pathLst>
              <a:path w="1645920" h="731520">
                <a:moveTo>
                  <a:pt x="0" y="0"/>
                </a:moveTo>
                <a:lnTo>
                  <a:pt x="1645920" y="0"/>
                </a:lnTo>
                <a:lnTo>
                  <a:pt x="16459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15" name="Text 12"/>
          <p:cNvSpPr/>
          <p:nvPr/>
        </p:nvSpPr>
        <p:spPr>
          <a:xfrm>
            <a:off x="6949440" y="1563624"/>
            <a:ext cx="1280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特征构造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731520" y="2560320"/>
            <a:ext cx="7680960" cy="914400"/>
          </a:xfrm>
          <a:custGeom>
            <a:avLst/>
            <a:gdLst/>
            <a:ahLst/>
            <a:cxnLst/>
            <a:rect l="l" t="t" r="r" b="b"/>
            <a:pathLst>
              <a:path w="7680960" h="914400">
                <a:moveTo>
                  <a:pt x="0" y="0"/>
                </a:moveTo>
                <a:lnTo>
                  <a:pt x="7680960" y="0"/>
                </a:lnTo>
                <a:lnTo>
                  <a:pt x="768096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2779776"/>
            <a:ext cx="731520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严防数据泄露 (Data Leakage)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：仅在训练集上Fit，在测试集上只Transform</a:t>
            </a:r>
            <a:endParaRPr lang="en-US" sz="1152" dirty="0"/>
          </a:p>
        </p:txBody>
      </p:sp>
      <p:sp>
        <p:nvSpPr>
          <p:cNvPr id="18" name="Shape 15"/>
          <p:cNvSpPr/>
          <p:nvPr/>
        </p:nvSpPr>
        <p:spPr>
          <a:xfrm>
            <a:off x="731520" y="3794760"/>
            <a:ext cx="36576" cy="749808"/>
          </a:xfrm>
          <a:custGeom>
            <a:avLst/>
            <a:gdLst/>
            <a:ahLst/>
            <a:cxnLst/>
            <a:rect l="l" t="t" r="r" b="b"/>
            <a:pathLst>
              <a:path w="36576" h="749808">
                <a:moveTo>
                  <a:pt x="0" y="0"/>
                </a:moveTo>
                <a:lnTo>
                  <a:pt x="36576" y="0"/>
                </a:lnTo>
                <a:lnTo>
                  <a:pt x="36576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3794760"/>
            <a:ext cx="749808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养成习惯：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处理策略应建立在对原始数据分布的充分观察之上。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核心准则：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好的特征决定了机器学习的上限，而模型只是逼近这个上限。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2026-04-11T08:20:07Z</dcterms:created>
  <dcterms:modified xsi:type="dcterms:W3CDTF">2026-04-11T08:20:07Z</dcterms:modified>
</cp:coreProperties>
</file>